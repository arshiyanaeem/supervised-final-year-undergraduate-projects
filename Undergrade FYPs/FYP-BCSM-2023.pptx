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Big Shoulders Display Bold" charset="1" panose="00000000000000000000"/>
      <p:regular r:id="rId28"/>
    </p:embeddedFont>
    <p:embeddedFont>
      <p:font typeface="Arimo Bold" charset="1" panose="020B0704020202020204"/>
      <p:regular r:id="rId29"/>
    </p:embeddedFont>
    <p:embeddedFont>
      <p:font typeface="Big Shoulders Display" charset="1" panose="00000000000000000000"/>
      <p:regular r:id="rId30"/>
    </p:embeddedFont>
    <p:embeddedFont>
      <p:font typeface="Arimo" charset="1" panose="020B0604020202020204"/>
      <p:regular r:id="rId31"/>
    </p:embeddedFont>
    <p:embeddedFont>
      <p:font typeface="Arimo Bold Italics" charset="1" panose="020B070402020209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https://ieeexplore.ieee.org/author/37088766686"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grpSp>
        <p:nvGrpSpPr>
          <p:cNvPr name="Group 6" id="6"/>
          <p:cNvGrpSpPr/>
          <p:nvPr/>
        </p:nvGrpSpPr>
        <p:grpSpPr>
          <a:xfrm rot="0">
            <a:off x="0" y="0"/>
            <a:ext cx="18288000" cy="6858002"/>
            <a:chOff x="0" y="0"/>
            <a:chExt cx="24384000" cy="9144002"/>
          </a:xfrm>
        </p:grpSpPr>
        <p:sp>
          <p:nvSpPr>
            <p:cNvPr name="Freeform 7" id="7"/>
            <p:cNvSpPr/>
            <p:nvPr/>
          </p:nvSpPr>
          <p:spPr>
            <a:xfrm flipH="false" flipV="false" rot="0">
              <a:off x="0" y="0"/>
              <a:ext cx="24384000" cy="9144000"/>
            </a:xfrm>
            <a:custGeom>
              <a:avLst/>
              <a:gdLst/>
              <a:ahLst/>
              <a:cxnLst/>
              <a:rect r="r" b="b" t="t" l="l"/>
              <a:pathLst>
                <a:path h="9144000" w="24384000">
                  <a:moveTo>
                    <a:pt x="0" y="0"/>
                  </a:moveTo>
                  <a:lnTo>
                    <a:pt x="24384000" y="0"/>
                  </a:lnTo>
                  <a:lnTo>
                    <a:pt x="24384000" y="9144000"/>
                  </a:lnTo>
                  <a:lnTo>
                    <a:pt x="0" y="9144000"/>
                  </a:lnTo>
                  <a:close/>
                </a:path>
              </a:pathLst>
            </a:custGeom>
            <a:solidFill>
              <a:srgbClr val="1482AC"/>
            </a:solidFill>
          </p:spPr>
        </p:sp>
      </p:grpSp>
      <p:sp>
        <p:nvSpPr>
          <p:cNvPr name="Freeform 8" id="8"/>
          <p:cNvSpPr/>
          <p:nvPr/>
        </p:nvSpPr>
        <p:spPr>
          <a:xfrm flipH="false" flipV="false" rot="0">
            <a:off x="-19050" y="0"/>
            <a:ext cx="18288000" cy="6858002"/>
          </a:xfrm>
          <a:custGeom>
            <a:avLst/>
            <a:gdLst/>
            <a:ahLst/>
            <a:cxnLst/>
            <a:rect r="r" b="b" t="t" l="l"/>
            <a:pathLst>
              <a:path h="6858002" w="18288000">
                <a:moveTo>
                  <a:pt x="0" y="0"/>
                </a:moveTo>
                <a:lnTo>
                  <a:pt x="18288000" y="0"/>
                </a:lnTo>
                <a:lnTo>
                  <a:pt x="18288000" y="6858002"/>
                </a:lnTo>
                <a:lnTo>
                  <a:pt x="0" y="6858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9" id="9"/>
          <p:cNvSpPr/>
          <p:nvPr/>
        </p:nvSpPr>
        <p:spPr>
          <a:xfrm rot="-5329851">
            <a:off x="11880031" y="8572434"/>
            <a:ext cx="1400467" cy="0"/>
          </a:xfrm>
          <a:prstGeom prst="line">
            <a:avLst/>
          </a:prstGeom>
          <a:ln cap="rnd" w="19050">
            <a:solidFill>
              <a:srgbClr val="1CADE4"/>
            </a:solidFill>
            <a:prstDash val="solid"/>
            <a:headEnd type="none" len="sm" w="sm"/>
            <a:tailEnd type="none" len="sm" w="sm"/>
          </a:ln>
        </p:spPr>
      </p:sp>
      <p:grpSp>
        <p:nvGrpSpPr>
          <p:cNvPr name="Group 10" id="10"/>
          <p:cNvGrpSpPr/>
          <p:nvPr/>
        </p:nvGrpSpPr>
        <p:grpSpPr>
          <a:xfrm rot="0">
            <a:off x="382425" y="394176"/>
            <a:ext cx="17523152" cy="9498650"/>
            <a:chOff x="0" y="0"/>
            <a:chExt cx="23364202" cy="12664866"/>
          </a:xfrm>
        </p:grpSpPr>
        <p:sp>
          <p:nvSpPr>
            <p:cNvPr name="Freeform 11" id="11"/>
            <p:cNvSpPr/>
            <p:nvPr/>
          </p:nvSpPr>
          <p:spPr>
            <a:xfrm flipH="false" flipV="false" rot="0">
              <a:off x="0" y="0"/>
              <a:ext cx="23364189" cy="12664821"/>
            </a:xfrm>
            <a:custGeom>
              <a:avLst/>
              <a:gdLst/>
              <a:ahLst/>
              <a:cxnLst/>
              <a:rect r="r" b="b" t="t" l="l"/>
              <a:pathLst>
                <a:path h="12664821" w="23364189">
                  <a:moveTo>
                    <a:pt x="0" y="0"/>
                  </a:moveTo>
                  <a:lnTo>
                    <a:pt x="23364189" y="0"/>
                  </a:lnTo>
                  <a:lnTo>
                    <a:pt x="23364189" y="12664821"/>
                  </a:lnTo>
                  <a:lnTo>
                    <a:pt x="0" y="12664821"/>
                  </a:lnTo>
                  <a:close/>
                </a:path>
              </a:pathLst>
            </a:custGeom>
            <a:solidFill>
              <a:srgbClr val="008284"/>
            </a:solidFill>
          </p:spPr>
        </p:sp>
      </p:grpSp>
      <p:sp>
        <p:nvSpPr>
          <p:cNvPr name="Freeform 12" id="12"/>
          <p:cNvSpPr/>
          <p:nvPr/>
        </p:nvSpPr>
        <p:spPr>
          <a:xfrm flipH="false" flipV="false" rot="0">
            <a:off x="7718899" y="944631"/>
            <a:ext cx="2850190" cy="2872136"/>
          </a:xfrm>
          <a:custGeom>
            <a:avLst/>
            <a:gdLst/>
            <a:ahLst/>
            <a:cxnLst/>
            <a:rect r="r" b="b" t="t" l="l"/>
            <a:pathLst>
              <a:path h="2872136" w="2850190">
                <a:moveTo>
                  <a:pt x="0" y="0"/>
                </a:moveTo>
                <a:lnTo>
                  <a:pt x="2850191" y="0"/>
                </a:lnTo>
                <a:lnTo>
                  <a:pt x="2850191" y="2872135"/>
                </a:lnTo>
                <a:lnTo>
                  <a:pt x="0" y="2872135"/>
                </a:lnTo>
                <a:lnTo>
                  <a:pt x="0" y="0"/>
                </a:lnTo>
                <a:close/>
              </a:path>
            </a:pathLst>
          </a:custGeom>
          <a:blipFill>
            <a:blip r:embed="rId4"/>
            <a:stretch>
              <a:fillRect l="0" t="-52" r="0" b="-52"/>
            </a:stretch>
          </a:blipFill>
        </p:spPr>
      </p:sp>
      <p:sp>
        <p:nvSpPr>
          <p:cNvPr name="TextBox 13" id="13"/>
          <p:cNvSpPr txBox="true"/>
          <p:nvPr/>
        </p:nvSpPr>
        <p:spPr>
          <a:xfrm rot="0">
            <a:off x="3316490" y="4605937"/>
            <a:ext cx="11616921" cy="3338037"/>
          </a:xfrm>
          <a:prstGeom prst="rect">
            <a:avLst/>
          </a:prstGeom>
        </p:spPr>
        <p:txBody>
          <a:bodyPr anchor="t" rtlCol="false" tIns="0" lIns="0" bIns="0" rIns="0">
            <a:spAutoFit/>
          </a:bodyPr>
          <a:lstStyle/>
          <a:p>
            <a:pPr algn="ctr">
              <a:lnSpc>
                <a:spcPts val="7200"/>
              </a:lnSpc>
            </a:pPr>
            <a:r>
              <a:rPr lang="en-US" b="true" sz="7500" spc="314">
                <a:solidFill>
                  <a:srgbClr val="000000"/>
                </a:solidFill>
                <a:latin typeface="Big Shoulders Display Bold"/>
                <a:ea typeface="Big Shoulders Display Bold"/>
                <a:cs typeface="Big Shoulders Display Bold"/>
                <a:sym typeface="Big Shoulders Display Bold"/>
              </a:rPr>
              <a:t>AI based System for human Emotion detection </a:t>
            </a:r>
          </a:p>
        </p:txBody>
      </p:sp>
      <p:sp>
        <p:nvSpPr>
          <p:cNvPr name="TextBox 14" id="14"/>
          <p:cNvSpPr txBox="true"/>
          <p:nvPr/>
        </p:nvSpPr>
        <p:spPr>
          <a:xfrm rot="0">
            <a:off x="3959967" y="7380775"/>
            <a:ext cx="9928148" cy="950729"/>
          </a:xfrm>
          <a:prstGeom prst="rect">
            <a:avLst/>
          </a:prstGeom>
        </p:spPr>
        <p:txBody>
          <a:bodyPr anchor="t" rtlCol="false" tIns="0" lIns="0" bIns="0" rIns="0">
            <a:spAutoFit/>
          </a:bodyPr>
          <a:lstStyle/>
          <a:p>
            <a:pPr algn="ctr">
              <a:lnSpc>
                <a:spcPts val="5759"/>
              </a:lnSpc>
            </a:pPr>
            <a:r>
              <a:rPr lang="en-US" sz="4800" b="true">
                <a:solidFill>
                  <a:srgbClr val="FFFFFF"/>
                </a:solidFill>
                <a:latin typeface="Arimo Bold"/>
                <a:ea typeface="Arimo Bold"/>
                <a:cs typeface="Arimo Bold"/>
                <a:sym typeface="Arimo Bold"/>
              </a:rPr>
              <a:t>FYP-BCSM-F23-037</a:t>
            </a:r>
          </a:p>
        </p:txBody>
      </p:sp>
      <p:sp>
        <p:nvSpPr>
          <p:cNvPr name="Freeform 15" id="15" descr="A picture containing circle  Description automatically generated"/>
          <p:cNvSpPr/>
          <p:nvPr/>
        </p:nvSpPr>
        <p:spPr>
          <a:xfrm flipH="false" flipV="false" rot="0">
            <a:off x="7153344" y="703825"/>
            <a:ext cx="3541395" cy="3749712"/>
          </a:xfrm>
          <a:custGeom>
            <a:avLst/>
            <a:gdLst/>
            <a:ahLst/>
            <a:cxnLst/>
            <a:rect r="r" b="b" t="t" l="l"/>
            <a:pathLst>
              <a:path h="3749712" w="3541395">
                <a:moveTo>
                  <a:pt x="0" y="0"/>
                </a:moveTo>
                <a:lnTo>
                  <a:pt x="3541395" y="0"/>
                </a:lnTo>
                <a:lnTo>
                  <a:pt x="3541395" y="3749713"/>
                </a:lnTo>
                <a:lnTo>
                  <a:pt x="0" y="3749713"/>
                </a:lnTo>
                <a:lnTo>
                  <a:pt x="0" y="0"/>
                </a:lnTo>
                <a:close/>
              </a:path>
            </a:pathLst>
          </a:custGeom>
          <a:blipFill>
            <a:blip r:embed="rId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107867" y="455114"/>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Project Team</a:t>
            </a:r>
          </a:p>
        </p:txBody>
      </p:sp>
      <p:sp>
        <p:nvSpPr>
          <p:cNvPr name="TextBox 7" id="7"/>
          <p:cNvSpPr txBox="true"/>
          <p:nvPr/>
        </p:nvSpPr>
        <p:spPr>
          <a:xfrm rot="0">
            <a:off x="2898094" y="2561663"/>
            <a:ext cx="14488670" cy="2726817"/>
          </a:xfrm>
          <a:prstGeom prst="rect">
            <a:avLst/>
          </a:prstGeom>
        </p:spPr>
        <p:txBody>
          <a:bodyPr anchor="t" rtlCol="false" tIns="0" lIns="0" bIns="0" rIns="0">
            <a:spAutoFit/>
          </a:bodyPr>
          <a:lstStyle/>
          <a:p>
            <a:pPr algn="l">
              <a:lnSpc>
                <a:spcPts val="3564"/>
              </a:lnSpc>
            </a:pPr>
            <a:r>
              <a:rPr lang="en-US" sz="3300" b="true">
                <a:solidFill>
                  <a:srgbClr val="000000"/>
                </a:solidFill>
                <a:latin typeface="Arimo Bold"/>
                <a:ea typeface="Arimo Bold"/>
                <a:cs typeface="Arimo Bold"/>
                <a:sym typeface="Arimo Bold"/>
              </a:rPr>
              <a:t> Sarah Mahmood (Bcsm-f20-311)</a:t>
            </a:r>
          </a:p>
          <a:p>
            <a:pPr algn="l">
              <a:lnSpc>
                <a:spcPts val="3564"/>
              </a:lnSpc>
            </a:pPr>
            <a:r>
              <a:rPr lang="en-US" sz="3300" b="true">
                <a:solidFill>
                  <a:srgbClr val="000000"/>
                </a:solidFill>
                <a:latin typeface="Arimo Bold"/>
                <a:ea typeface="Arimo Bold"/>
                <a:cs typeface="Arimo Bold"/>
                <a:sym typeface="Arimo Bold"/>
              </a:rPr>
              <a:t> </a:t>
            </a:r>
            <a:r>
              <a:rPr lang="en-US" sz="3300" b="true">
                <a:solidFill>
                  <a:srgbClr val="000000"/>
                </a:solidFill>
                <a:latin typeface="Arimo Bold"/>
                <a:ea typeface="Arimo Bold"/>
                <a:cs typeface="Arimo Bold"/>
                <a:sym typeface="Arimo Bold"/>
              </a:rPr>
              <a:t>Rabeed Shahid (Bcsm-f20-316</a:t>
            </a:r>
            <a:r>
              <a:rPr lang="en-US" sz="3300">
                <a:solidFill>
                  <a:srgbClr val="000000"/>
                </a:solidFill>
                <a:latin typeface="Arimo"/>
                <a:ea typeface="Arimo"/>
                <a:cs typeface="Arimo"/>
                <a:sym typeface="Arimo"/>
              </a:rPr>
              <a:t>)</a:t>
            </a:r>
          </a:p>
          <a:p>
            <a:pPr algn="l">
              <a:lnSpc>
                <a:spcPts val="3564"/>
              </a:lnSpc>
            </a:pPr>
          </a:p>
          <a:p>
            <a:pPr algn="l">
              <a:lnSpc>
                <a:spcPts val="3564"/>
              </a:lnSpc>
            </a:pPr>
            <a:r>
              <a:rPr lang="en-US" sz="3300">
                <a:solidFill>
                  <a:srgbClr val="000000"/>
                </a:solidFill>
                <a:latin typeface="Arimo"/>
                <a:ea typeface="Arimo"/>
                <a:cs typeface="Arimo"/>
                <a:sym typeface="Arimo"/>
              </a:rPr>
              <a:t> </a:t>
            </a:r>
            <a:r>
              <a:rPr lang="en-US" sz="3300" b="true">
                <a:solidFill>
                  <a:srgbClr val="000000"/>
                </a:solidFill>
                <a:latin typeface="Arimo Bold"/>
                <a:ea typeface="Arimo Bold"/>
                <a:cs typeface="Arimo Bold"/>
                <a:sym typeface="Arimo Bold"/>
              </a:rPr>
              <a:t>Supervisor: </a:t>
            </a:r>
          </a:p>
          <a:p>
            <a:pPr algn="l" marL="597217" indent="-298609" lvl="1">
              <a:lnSpc>
                <a:spcPts val="3564"/>
              </a:lnSpc>
            </a:pPr>
            <a:r>
              <a:rPr lang="en-US" b="true" sz="3300">
                <a:solidFill>
                  <a:srgbClr val="000000"/>
                </a:solidFill>
                <a:latin typeface="Arimo Bold"/>
                <a:ea typeface="Arimo Bold"/>
                <a:cs typeface="Arimo Bold"/>
                <a:sym typeface="Arimo Bold"/>
              </a:rPr>
              <a:t>            Mam Arshia Naeem</a:t>
            </a:r>
          </a:p>
          <a:p>
            <a:pPr algn="l" marL="597217" indent="-298609" lvl="1">
              <a:lnSpc>
                <a:spcPts val="3564"/>
              </a:lnSpc>
            </a:pP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348740" y="572553"/>
            <a:ext cx="15590520" cy="174450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Introduction &amp; Background</a:t>
            </a:r>
          </a:p>
        </p:txBody>
      </p:sp>
      <p:sp>
        <p:nvSpPr>
          <p:cNvPr name="TextBox 7" id="7"/>
          <p:cNvSpPr txBox="true"/>
          <p:nvPr/>
        </p:nvSpPr>
        <p:spPr>
          <a:xfrm rot="0">
            <a:off x="1697054" y="2240127"/>
            <a:ext cx="14893893" cy="7228727"/>
          </a:xfrm>
          <a:prstGeom prst="rect">
            <a:avLst/>
          </a:prstGeom>
        </p:spPr>
        <p:txBody>
          <a:bodyPr anchor="t" rtlCol="false" tIns="0" lIns="0" bIns="0" rIns="0">
            <a:spAutoFit/>
          </a:bodyPr>
          <a:lstStyle/>
          <a:p>
            <a:pPr algn="just" marL="542925" indent="-271462" lvl="1">
              <a:lnSpc>
                <a:spcPts val="3240"/>
              </a:lnSpc>
              <a:buFont typeface="Arial"/>
              <a:buChar char="•"/>
            </a:pPr>
            <a:r>
              <a:rPr lang="en-US" sz="3000">
                <a:solidFill>
                  <a:srgbClr val="000000"/>
                </a:solidFill>
                <a:latin typeface="Arimo"/>
                <a:ea typeface="Arimo"/>
                <a:cs typeface="Arimo"/>
                <a:sym typeface="Arimo"/>
              </a:rPr>
              <a:t>Imagine an AI based system that not only understands your words but also senses your feelings, responding with empathy and insight. This is the vision we aim to realize through our FYP, as we unveil the concept of an AI Voice and Emotion Detection system. In an era characterized by rapid technological advancement, our project delves into the significance of emotionally aware artificial intelligence, a tool that can genuinely connect with users on an emotional level. Envision a world where technology not only hears our voices but also perceives our emotions, offering a level of understanding and empathy previously reserved for human interactions.</a:t>
            </a:r>
          </a:p>
          <a:p>
            <a:pPr algn="just" marL="542925" indent="-271462" lvl="1">
              <a:lnSpc>
                <a:spcPts val="3240"/>
              </a:lnSpc>
              <a:buFont typeface="Arial"/>
              <a:buChar char="•"/>
            </a:pPr>
            <a:r>
              <a:rPr lang="en-US" sz="3000">
                <a:solidFill>
                  <a:srgbClr val="000000"/>
                </a:solidFill>
                <a:latin typeface="Arimo"/>
                <a:ea typeface="Arimo"/>
                <a:cs typeface="Arimo"/>
                <a:sym typeface="Arimo"/>
              </a:rPr>
              <a:t>In today's digital landscape, technology is striving to understand us better, aiming not just to respond to our commands but also to perceive our feelings. This initiative drives the creation of AI voice and emotion detection system that go beyond merely understanding words – they aim to comprehend our emotions too. Imagine chatting with your device, and it not only recognizes what you're saying but also senses if you're happy, sad, or frustrated. This ambitious venture comes from incredible advancements in technology. Computers are getting smarter, especially in understanding language and recognizing patterns. They're learning to decode our expressions, tone, and choice of words to interpret emotions, much like how humans do when they talk to each other.</a:t>
            </a:r>
          </a:p>
          <a:p>
            <a:pPr algn="l" marL="542925" indent="-271462" lvl="1">
              <a:lnSpc>
                <a:spcPts val="3240"/>
              </a:lnSpc>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627632" y="368487"/>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Problem Statement</a:t>
            </a:r>
          </a:p>
        </p:txBody>
      </p:sp>
      <p:sp>
        <p:nvSpPr>
          <p:cNvPr name="TextBox 7" id="7"/>
          <p:cNvSpPr txBox="true"/>
          <p:nvPr/>
        </p:nvSpPr>
        <p:spPr>
          <a:xfrm rot="0">
            <a:off x="1581912" y="2484561"/>
            <a:ext cx="14488670" cy="5924550"/>
          </a:xfrm>
          <a:prstGeom prst="rect">
            <a:avLst/>
          </a:prstGeom>
        </p:spPr>
        <p:txBody>
          <a:bodyPr anchor="t" rtlCol="false" tIns="0" lIns="0" bIns="0" rIns="0">
            <a:spAutoFit/>
          </a:bodyPr>
          <a:lstStyle/>
          <a:p>
            <a:pPr algn="just" marL="734949" indent="-244983" lvl="2">
              <a:lnSpc>
                <a:spcPts val="3240"/>
              </a:lnSpc>
              <a:buFont typeface="Arial"/>
              <a:buChar char="⚬"/>
            </a:pPr>
            <a:r>
              <a:rPr lang="en-US" sz="3000">
                <a:solidFill>
                  <a:srgbClr val="000000"/>
                </a:solidFill>
                <a:latin typeface="Arimo"/>
                <a:ea typeface="Arimo"/>
                <a:cs typeface="Arimo"/>
                <a:sym typeface="Arimo"/>
              </a:rPr>
              <a:t>Understanding human emotions accurately through voice is a complex and challenging task. Traditional methods of emotion detection often rely on visual cues or manual interpretation, which can be subjective and inefficient. There is a need for a reliable and automated system that can accurately detect and classify emotions from voice audio. The lack of such a system limits the ability to provide timely support in areas such as mental health, customer service, and human-computer interaction.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382188" y="382924"/>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Solution</a:t>
            </a:r>
          </a:p>
        </p:txBody>
      </p:sp>
      <p:sp>
        <p:nvSpPr>
          <p:cNvPr name="TextBox 7" id="7"/>
          <p:cNvSpPr txBox="true"/>
          <p:nvPr/>
        </p:nvSpPr>
        <p:spPr>
          <a:xfrm rot="0">
            <a:off x="1581912" y="2498998"/>
            <a:ext cx="14488670" cy="5924550"/>
          </a:xfrm>
          <a:prstGeom prst="rect">
            <a:avLst/>
          </a:prstGeom>
        </p:spPr>
        <p:txBody>
          <a:bodyPr anchor="t" rtlCol="false" tIns="0" lIns="0" bIns="0" rIns="0">
            <a:spAutoFit/>
          </a:bodyPr>
          <a:lstStyle/>
          <a:p>
            <a:pPr algn="just" marL="734949" indent="-244983" lvl="2">
              <a:lnSpc>
                <a:spcPts val="3240"/>
              </a:lnSpc>
              <a:buFont typeface="Arial"/>
              <a:buChar char="⚬"/>
            </a:pPr>
            <a:r>
              <a:rPr lang="en-US" sz="3000">
                <a:solidFill>
                  <a:srgbClr val="000000"/>
                </a:solidFill>
                <a:latin typeface="Arimo"/>
                <a:ea typeface="Arimo"/>
                <a:cs typeface="Arimo"/>
                <a:sym typeface="Arimo"/>
              </a:rPr>
              <a:t>This project aims to develop an AI-based system that can effectively detect emotions from both pre-recorded audio files and in real-time recordings, providing a robust solution for automated emotion recognition.</a:t>
            </a:r>
          </a:p>
          <a:p>
            <a:pPr algn="just" marL="734949" indent="-244983" lvl="2">
              <a:lnSpc>
                <a:spcPts val="3240"/>
              </a:lnSpc>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050117" y="411801"/>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Features and Scope</a:t>
            </a:r>
          </a:p>
        </p:txBody>
      </p:sp>
      <p:sp>
        <p:nvSpPr>
          <p:cNvPr name="TextBox 7" id="7"/>
          <p:cNvSpPr txBox="true"/>
          <p:nvPr/>
        </p:nvSpPr>
        <p:spPr>
          <a:xfrm rot="0">
            <a:off x="1530870" y="2518350"/>
            <a:ext cx="14488670" cy="5934075"/>
          </a:xfrm>
          <a:prstGeom prst="rect">
            <a:avLst/>
          </a:prstGeom>
        </p:spPr>
        <p:txBody>
          <a:bodyPr anchor="t" rtlCol="false" tIns="0" lIns="0" bIns="0" rIns="0">
            <a:spAutoFit/>
          </a:bodyPr>
          <a:lstStyle/>
          <a:p>
            <a:pPr algn="l" marL="597217" indent="-298609" lvl="1">
              <a:lnSpc>
                <a:spcPts val="3564"/>
              </a:lnSpc>
              <a:buFont typeface="Arial"/>
              <a:buChar char="•"/>
            </a:pPr>
            <a:r>
              <a:rPr lang="en-US" sz="3300">
                <a:solidFill>
                  <a:srgbClr val="000000"/>
                </a:solidFill>
                <a:latin typeface="Arimo"/>
                <a:ea typeface="Arimo"/>
                <a:cs typeface="Arimo"/>
                <a:sym typeface="Arimo"/>
              </a:rPr>
              <a:t> This project features an innovative AI system for detecting human emotions from voice audio, enabling users to upload files for detailed emotion analysis and engage in real-time emotion detection through live recording. </a:t>
            </a:r>
          </a:p>
          <a:p>
            <a:pPr algn="l" marL="597217" indent="-298609" lvl="1">
              <a:lnSpc>
                <a:spcPts val="3564"/>
              </a:lnSpc>
              <a:buFont typeface="Arial"/>
              <a:buChar char="•"/>
            </a:pPr>
            <a:r>
              <a:rPr lang="en-US" sz="3300">
                <a:solidFill>
                  <a:srgbClr val="000000"/>
                </a:solidFill>
                <a:latin typeface="Arimo"/>
                <a:ea typeface="Arimo"/>
                <a:cs typeface="Arimo"/>
                <a:sym typeface="Arimo"/>
              </a:rPr>
              <a:t> The system identifies a wide range of emotions, offering valuable applications in mental health diagnostics, personalized customer service, interactive virtual assistants, and enhancing human-computer interaction experiences. </a:t>
            </a:r>
          </a:p>
          <a:p>
            <a:pPr algn="l" marL="597217" indent="-298609" lvl="1">
              <a:lnSpc>
                <a:spcPts val="3564"/>
              </a:lnSpc>
              <a:buFont typeface="Arial"/>
              <a:buChar char="•"/>
            </a:pPr>
            <a:r>
              <a:rPr lang="en-US" sz="3300">
                <a:solidFill>
                  <a:srgbClr val="000000"/>
                </a:solidFill>
                <a:latin typeface="Arimo"/>
                <a:ea typeface="Arimo"/>
                <a:cs typeface="Arimo"/>
                <a:sym typeface="Arimo"/>
              </a:rPr>
              <a:t> The project's scope extends to integrating advanced machine learning algorithms, ensuring high accuracy and efficiency in diverse real-world scenarios.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120140" y="411801"/>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Requirements</a:t>
            </a:r>
          </a:p>
        </p:txBody>
      </p:sp>
      <p:sp>
        <p:nvSpPr>
          <p:cNvPr name="TextBox 7" id="7"/>
          <p:cNvSpPr txBox="true"/>
          <p:nvPr/>
        </p:nvSpPr>
        <p:spPr>
          <a:xfrm rot="0">
            <a:off x="838893" y="2351712"/>
            <a:ext cx="16797288" cy="7889568"/>
          </a:xfrm>
          <a:prstGeom prst="rect">
            <a:avLst/>
          </a:prstGeom>
        </p:spPr>
        <p:txBody>
          <a:bodyPr anchor="t" rtlCol="false" tIns="0" lIns="0" bIns="0" rIns="0">
            <a:spAutoFit/>
          </a:bodyPr>
          <a:lstStyle/>
          <a:p>
            <a:pPr algn="l">
              <a:lnSpc>
                <a:spcPts val="2358"/>
              </a:lnSpc>
            </a:pPr>
            <a:r>
              <a:rPr lang="en-US" sz="2729" b="true">
                <a:solidFill>
                  <a:srgbClr val="000000"/>
                </a:solidFill>
                <a:latin typeface="Arimo Bold"/>
                <a:ea typeface="Arimo Bold"/>
                <a:cs typeface="Arimo Bold"/>
                <a:sym typeface="Arimo Bold"/>
              </a:rPr>
              <a:t>Tools</a:t>
            </a:r>
          </a:p>
          <a:p>
            <a:pPr algn="l" marL="494062" indent="-247031" lvl="1">
              <a:lnSpc>
                <a:spcPts val="2358"/>
              </a:lnSpc>
              <a:buFont typeface="Arial"/>
              <a:buChar char="•"/>
            </a:pPr>
            <a:r>
              <a:rPr lang="en-US" b="true" sz="2729" i="true">
                <a:solidFill>
                  <a:srgbClr val="000000"/>
                </a:solidFill>
                <a:latin typeface="Arimo Bold Italics"/>
                <a:ea typeface="Arimo Bold Italics"/>
                <a:cs typeface="Arimo Bold Italics"/>
                <a:sym typeface="Arimo Bold Italics"/>
              </a:rPr>
              <a:t>Tool:</a:t>
            </a:r>
            <a:r>
              <a:rPr lang="en-US" sz="2729">
                <a:solidFill>
                  <a:srgbClr val="000000"/>
                </a:solidFill>
                <a:latin typeface="Arimo"/>
                <a:ea typeface="Arimo"/>
                <a:cs typeface="Arimo"/>
                <a:sym typeface="Arimo"/>
              </a:rPr>
              <a:t> Pycharm</a:t>
            </a:r>
          </a:p>
          <a:p>
            <a:pPr algn="l" marL="494062" indent="-247031" lvl="1">
              <a:lnSpc>
                <a:spcPts val="2358"/>
              </a:lnSpc>
              <a:buFont typeface="Arial"/>
              <a:buChar char="•"/>
            </a:pPr>
            <a:r>
              <a:rPr lang="en-US" b="true" sz="2729">
                <a:solidFill>
                  <a:srgbClr val="000000"/>
                </a:solidFill>
                <a:latin typeface="Arimo Bold"/>
                <a:ea typeface="Arimo Bold"/>
                <a:cs typeface="Arimo Bold"/>
                <a:sym typeface="Arimo Bold"/>
              </a:rPr>
              <a:t>Programming Languages:</a:t>
            </a:r>
          </a:p>
          <a:p>
            <a:pPr algn="l" marL="494062" indent="-247031" lvl="1">
              <a:lnSpc>
                <a:spcPts val="2358"/>
              </a:lnSpc>
              <a:buFont typeface="Arial"/>
              <a:buChar char="•"/>
            </a:pPr>
            <a:r>
              <a:rPr lang="en-US" b="true" sz="2729" i="true">
                <a:solidFill>
                  <a:srgbClr val="000000"/>
                </a:solidFill>
                <a:latin typeface="Arimo Bold Italics"/>
                <a:ea typeface="Arimo Bold Italics"/>
                <a:cs typeface="Arimo Bold Italics"/>
                <a:sym typeface="Arimo Bold Italics"/>
              </a:rPr>
              <a:t>           Languages:</a:t>
            </a:r>
            <a:r>
              <a:rPr lang="en-US" sz="2729">
                <a:solidFill>
                  <a:srgbClr val="000000"/>
                </a:solidFill>
                <a:latin typeface="Arimo"/>
                <a:ea typeface="Arimo"/>
                <a:cs typeface="Arimo"/>
                <a:sym typeface="Arimo"/>
              </a:rPr>
              <a:t> Python, , html, css, JavaScript</a:t>
            </a:r>
          </a:p>
          <a:p>
            <a:pPr algn="l" marL="494062" indent="-247031" lvl="1">
              <a:lnSpc>
                <a:spcPts val="2358"/>
              </a:lnSpc>
            </a:pPr>
            <a:r>
              <a:rPr lang="en-US" b="true" sz="2729" i="true">
                <a:solidFill>
                  <a:srgbClr val="000000"/>
                </a:solidFill>
                <a:latin typeface="Arimo Bold Italics"/>
                <a:ea typeface="Arimo Bold Italics"/>
                <a:cs typeface="Arimo Bold Italics"/>
                <a:sym typeface="Arimo Bold Italics"/>
              </a:rPr>
              <a:t>            Purpose:</a:t>
            </a:r>
            <a:r>
              <a:rPr lang="en-US" sz="2729">
                <a:solidFill>
                  <a:srgbClr val="000000"/>
                </a:solidFill>
                <a:latin typeface="Arimo"/>
                <a:ea typeface="Arimo"/>
                <a:cs typeface="Arimo"/>
                <a:sym typeface="Arimo"/>
              </a:rPr>
              <a:t> Utilized for frontend website development and backend server-side logic, respectively.</a:t>
            </a:r>
          </a:p>
          <a:p>
            <a:pPr algn="l" marL="494062" indent="-247031" lvl="1">
              <a:lnSpc>
                <a:spcPts val="2358"/>
              </a:lnSpc>
              <a:buFont typeface="Arial"/>
              <a:buChar char="•"/>
            </a:pPr>
            <a:r>
              <a:rPr lang="en-US" b="true" sz="2729">
                <a:solidFill>
                  <a:srgbClr val="000000"/>
                </a:solidFill>
                <a:latin typeface="Arimo Bold"/>
                <a:ea typeface="Arimo Bold"/>
                <a:cs typeface="Arimo Bold"/>
                <a:sym typeface="Arimo Bold"/>
              </a:rPr>
              <a:t>Testing Frameworks:</a:t>
            </a:r>
          </a:p>
          <a:p>
            <a:pPr algn="l" marL="494062" indent="-247031" lvl="1">
              <a:lnSpc>
                <a:spcPts val="2358"/>
              </a:lnSpc>
            </a:pPr>
            <a:r>
              <a:rPr lang="en-US" b="true" sz="2729" i="true">
                <a:solidFill>
                  <a:srgbClr val="000000"/>
                </a:solidFill>
                <a:latin typeface="Arimo Bold Italics"/>
                <a:ea typeface="Arimo Bold Italics"/>
                <a:cs typeface="Arimo Bold Italics"/>
                <a:sym typeface="Arimo Bold Italics"/>
              </a:rPr>
              <a:t>            Frameworks:</a:t>
            </a:r>
            <a:r>
              <a:rPr lang="en-US" sz="2729">
                <a:solidFill>
                  <a:srgbClr val="000000"/>
                </a:solidFill>
                <a:latin typeface="Arimo"/>
                <a:ea typeface="Arimo"/>
                <a:cs typeface="Arimo"/>
                <a:sym typeface="Arimo"/>
              </a:rPr>
              <a:t> Selenium (for website) , PyTest (for Python)</a:t>
            </a:r>
          </a:p>
          <a:p>
            <a:pPr algn="l" marL="494062" indent="-247031" lvl="1">
              <a:lnSpc>
                <a:spcPts val="2358"/>
              </a:lnSpc>
            </a:pPr>
            <a:r>
              <a:rPr lang="en-US" b="true" sz="2729" i="true">
                <a:solidFill>
                  <a:srgbClr val="000000"/>
                </a:solidFill>
                <a:latin typeface="Arimo Bold Italics"/>
                <a:ea typeface="Arimo Bold Italics"/>
                <a:cs typeface="Arimo Bold Italics"/>
                <a:sym typeface="Arimo Bold Italics"/>
              </a:rPr>
              <a:t>            Purpose:</a:t>
            </a:r>
            <a:r>
              <a:rPr lang="en-US" sz="2729">
                <a:solidFill>
                  <a:srgbClr val="000000"/>
                </a:solidFill>
                <a:latin typeface="Arimo"/>
                <a:ea typeface="Arimo"/>
                <a:cs typeface="Arimo"/>
                <a:sym typeface="Arimo"/>
              </a:rPr>
              <a:t> Enables automated testing of frontend and backend components to ensure code reliability.</a:t>
            </a:r>
          </a:p>
          <a:p>
            <a:pPr algn="l" marL="494062" indent="-247031" lvl="1">
              <a:lnSpc>
                <a:spcPts val="2358"/>
              </a:lnSpc>
              <a:buFont typeface="Arial"/>
              <a:buChar char="•"/>
            </a:pPr>
            <a:r>
              <a:rPr lang="en-US" b="true" sz="2729">
                <a:solidFill>
                  <a:srgbClr val="000000"/>
                </a:solidFill>
                <a:latin typeface="Arimo Bold"/>
                <a:ea typeface="Arimo Bold"/>
                <a:cs typeface="Arimo Bold"/>
                <a:sym typeface="Arimo Bold"/>
              </a:rPr>
              <a:t>Literature Reviews</a:t>
            </a:r>
          </a:p>
          <a:p>
            <a:pPr algn="l" marL="529352" indent="-264676" lvl="1">
              <a:lnSpc>
                <a:spcPts val="2527"/>
              </a:lnSpc>
            </a:pPr>
            <a:r>
              <a:rPr lang="en-US" b="true" sz="2925">
                <a:solidFill>
                  <a:srgbClr val="000000"/>
                </a:solidFill>
                <a:latin typeface="Arimo Bold"/>
                <a:ea typeface="Arimo Bold"/>
                <a:cs typeface="Arimo Bold"/>
                <a:sym typeface="Arimo Bold"/>
              </a:rPr>
              <a:t>              1. "Emotion Detection via Voice and Speech Recognition"</a:t>
            </a:r>
          </a:p>
          <a:p>
            <a:pPr algn="l" marL="529352" indent="-264676" lvl="1">
              <a:lnSpc>
                <a:spcPts val="2527"/>
              </a:lnSpc>
            </a:pPr>
            <a:r>
              <a:rPr lang="en-US" b="true" sz="2925">
                <a:solidFill>
                  <a:srgbClr val="000000"/>
                </a:solidFill>
                <a:latin typeface="Arimo Bold"/>
                <a:ea typeface="Arimo Bold"/>
                <a:cs typeface="Arimo Bold"/>
                <a:sym typeface="Arimo Bold"/>
              </a:rPr>
              <a:t>                   Author:</a:t>
            </a:r>
            <a:r>
              <a:rPr lang="en-US" sz="2925">
                <a:solidFill>
                  <a:srgbClr val="000000"/>
                </a:solidFill>
                <a:latin typeface="Arimo"/>
                <a:ea typeface="Arimo"/>
                <a:cs typeface="Arimo"/>
                <a:sym typeface="Arimo"/>
              </a:rPr>
              <a:t> Dr. Rohit Rastogi                </a:t>
            </a:r>
            <a:r>
              <a:rPr lang="en-US" b="true" sz="2925">
                <a:solidFill>
                  <a:srgbClr val="000000"/>
                </a:solidFill>
                <a:latin typeface="Arimo Bold"/>
                <a:ea typeface="Arimo Bold"/>
                <a:cs typeface="Arimo Bold"/>
                <a:sym typeface="Arimo Bold"/>
              </a:rPr>
              <a:t>Published on: </a:t>
            </a:r>
            <a:r>
              <a:rPr lang="en-US" sz="2925">
                <a:solidFill>
                  <a:srgbClr val="000000"/>
                </a:solidFill>
                <a:latin typeface="Arimo"/>
                <a:ea typeface="Arimo"/>
                <a:cs typeface="Arimo"/>
                <a:sym typeface="Arimo"/>
              </a:rPr>
              <a:t>2023</a:t>
            </a:r>
          </a:p>
          <a:p>
            <a:pPr algn="l" marL="546997" indent="-273498" lvl="1">
              <a:lnSpc>
                <a:spcPts val="2611"/>
              </a:lnSpc>
            </a:pPr>
            <a:r>
              <a:rPr lang="en-US" b="true" sz="3022">
                <a:solidFill>
                  <a:srgbClr val="000000"/>
                </a:solidFill>
                <a:latin typeface="Arimo Bold"/>
                <a:ea typeface="Arimo Bold"/>
                <a:cs typeface="Arimo Bold"/>
                <a:sym typeface="Arimo Bold"/>
              </a:rPr>
              <a:t>              2. "Speech Emotion Recognition Using Convolution Neural Networks"</a:t>
            </a:r>
          </a:p>
          <a:p>
            <a:pPr algn="l" marL="546997" indent="-273498" lvl="1">
              <a:lnSpc>
                <a:spcPts val="2611"/>
              </a:lnSpc>
            </a:pPr>
            <a:r>
              <a:rPr lang="en-US" b="true" sz="3022">
                <a:solidFill>
                  <a:srgbClr val="000000"/>
                </a:solidFill>
                <a:latin typeface="Arimo Bold"/>
                <a:ea typeface="Arimo Bold"/>
                <a:cs typeface="Arimo Bold"/>
                <a:sym typeface="Arimo Bold"/>
              </a:rPr>
              <a:t>                   Author</a:t>
            </a:r>
            <a:r>
              <a:rPr lang="en-US" sz="3022">
                <a:solidFill>
                  <a:srgbClr val="000000"/>
                </a:solidFill>
                <a:latin typeface="Arimo"/>
                <a:ea typeface="Arimo"/>
                <a:cs typeface="Arimo"/>
                <a:sym typeface="Arimo"/>
              </a:rPr>
              <a:t>: </a:t>
            </a:r>
            <a:r>
              <a:rPr lang="en-US" sz="3022" u="sng">
                <a:solidFill>
                  <a:srgbClr val="6B9F25"/>
                </a:solidFill>
                <a:latin typeface="Arimo"/>
                <a:ea typeface="Arimo"/>
                <a:cs typeface="Arimo"/>
                <a:sym typeface="Arimo"/>
                <a:hlinkClick r:id="rId2" tooltip="https://ieeexplore.ieee.org/author/37088766686"/>
              </a:rPr>
              <a:t>Krishna Chauhan</a:t>
            </a:r>
            <a:r>
              <a:rPr lang="en-US" sz="3022">
                <a:solidFill>
                  <a:srgbClr val="000000"/>
                </a:solidFill>
                <a:latin typeface="Arimo"/>
                <a:ea typeface="Arimo"/>
                <a:cs typeface="Arimo"/>
                <a:sym typeface="Arimo"/>
              </a:rPr>
              <a:t>                </a:t>
            </a:r>
            <a:r>
              <a:rPr lang="en-US" b="true" sz="3022">
                <a:solidFill>
                  <a:srgbClr val="000000"/>
                </a:solidFill>
                <a:latin typeface="Arimo Bold"/>
                <a:ea typeface="Arimo Bold"/>
                <a:cs typeface="Arimo Bold"/>
                <a:sym typeface="Arimo Bold"/>
              </a:rPr>
              <a:t>Published on</a:t>
            </a:r>
            <a:r>
              <a:rPr lang="en-US" sz="3022">
                <a:solidFill>
                  <a:srgbClr val="000000"/>
                </a:solidFill>
                <a:latin typeface="Arimo"/>
                <a:ea typeface="Arimo"/>
                <a:cs typeface="Arimo"/>
                <a:sym typeface="Arimo"/>
              </a:rPr>
              <a:t>: 12 April, 2021</a:t>
            </a:r>
          </a:p>
          <a:p>
            <a:pPr algn="l" marL="494062" indent="-247031" lvl="1">
              <a:lnSpc>
                <a:spcPts val="2358"/>
              </a:lnSpc>
            </a:pPr>
          </a:p>
          <a:p>
            <a:pPr algn="l" marL="494062" indent="-247031" lvl="1">
              <a:lnSpc>
                <a:spcPts val="2358"/>
              </a:lnSpc>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627632" y="198120"/>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Requirements</a:t>
            </a:r>
          </a:p>
        </p:txBody>
      </p:sp>
      <p:sp>
        <p:nvSpPr>
          <p:cNvPr name="TextBox 7" id="7"/>
          <p:cNvSpPr txBox="true"/>
          <p:nvPr/>
        </p:nvSpPr>
        <p:spPr>
          <a:xfrm rot="0">
            <a:off x="1192089" y="2488031"/>
            <a:ext cx="14488670" cy="5934075"/>
          </a:xfrm>
          <a:prstGeom prst="rect">
            <a:avLst/>
          </a:prstGeom>
        </p:spPr>
        <p:txBody>
          <a:bodyPr anchor="t" rtlCol="false" tIns="0" lIns="0" bIns="0" rIns="0">
            <a:spAutoFit/>
          </a:bodyPr>
          <a:lstStyle/>
          <a:p>
            <a:pPr algn="l" marL="597217" indent="-298609" lvl="1">
              <a:lnSpc>
                <a:spcPts val="3564"/>
              </a:lnSpc>
              <a:buFont typeface="Arial"/>
              <a:buChar char="•"/>
            </a:pPr>
            <a:r>
              <a:rPr lang="en-US" b="true" sz="3300">
                <a:solidFill>
                  <a:srgbClr val="000000"/>
                </a:solidFill>
                <a:latin typeface="Arimo Bold"/>
                <a:ea typeface="Arimo Bold"/>
                <a:cs typeface="Arimo Bold"/>
                <a:sym typeface="Arimo Bold"/>
              </a:rPr>
              <a:t>List of Different Users</a:t>
            </a:r>
          </a:p>
          <a:p>
            <a:pPr algn="l" marL="734949" indent="-244983" lvl="2">
              <a:lnSpc>
                <a:spcPts val="3240"/>
              </a:lnSpc>
              <a:buFont typeface="Arial"/>
              <a:buChar char="⚬"/>
            </a:pPr>
            <a:r>
              <a:rPr lang="en-US" sz="3000">
                <a:solidFill>
                  <a:srgbClr val="000000"/>
                </a:solidFill>
                <a:latin typeface="Arimo"/>
                <a:ea typeface="Arimo"/>
                <a:cs typeface="Arimo"/>
                <a:sym typeface="Arimo"/>
              </a:rPr>
              <a:t>User </a:t>
            </a:r>
          </a:p>
          <a:p>
            <a:pPr algn="l" marL="734949" indent="-244983" lvl="2">
              <a:lnSpc>
                <a:spcPts val="3240"/>
              </a:lnSpc>
              <a:buFont typeface="Arial"/>
              <a:buChar char="⚬"/>
            </a:pPr>
            <a:r>
              <a:rPr lang="en-US" sz="3000">
                <a:solidFill>
                  <a:srgbClr val="000000"/>
                </a:solidFill>
                <a:latin typeface="Arimo"/>
                <a:ea typeface="Arimo"/>
                <a:cs typeface="Arimo"/>
                <a:sym typeface="Arimo"/>
              </a:rPr>
              <a:t>Admin</a:t>
            </a:r>
          </a:p>
          <a:p>
            <a:pPr algn="l" marL="734949" indent="-244983" lvl="2">
              <a:lnSpc>
                <a:spcPts val="3240"/>
              </a:lnSpc>
              <a:buFont typeface="Arial"/>
              <a:buChar char="⚬"/>
            </a:pPr>
            <a:r>
              <a:rPr lang="en-US" sz="3000">
                <a:solidFill>
                  <a:srgbClr val="000000"/>
                </a:solidFill>
                <a:latin typeface="Arimo"/>
                <a:ea typeface="Arimo"/>
                <a:cs typeface="Arimo"/>
                <a:sym typeface="Arimo"/>
              </a:rPr>
              <a:t>Detector</a:t>
            </a:r>
          </a:p>
          <a:p>
            <a:pPr algn="l" marL="808444" indent="-269481" lvl="2">
              <a:lnSpc>
                <a:spcPts val="3564"/>
              </a:lnSpc>
            </a:pPr>
          </a:p>
          <a:p>
            <a:pPr algn="l" marL="597217" indent="-298609" lvl="1">
              <a:lnSpc>
                <a:spcPts val="3564"/>
              </a:lnSpc>
              <a:buFont typeface="Arial"/>
              <a:buChar char="•"/>
            </a:pPr>
            <a:r>
              <a:rPr lang="en-US" sz="3300">
                <a:solidFill>
                  <a:srgbClr val="000000"/>
                </a:solidFill>
                <a:latin typeface="Arimo"/>
                <a:ea typeface="Arimo"/>
                <a:cs typeface="Arimo"/>
                <a:sym typeface="Arimo"/>
              </a:rPr>
              <a:t>Use Cases</a:t>
            </a:r>
          </a:p>
          <a:p>
            <a:pPr algn="l" marL="597217" indent="-298609" lvl="1">
              <a:lnSpc>
                <a:spcPts val="3564"/>
              </a:lnSpc>
              <a:buFont typeface="Arial"/>
              <a:buChar char="•"/>
            </a:pPr>
            <a:r>
              <a:rPr lang="en-US" sz="3300">
                <a:solidFill>
                  <a:srgbClr val="000000"/>
                </a:solidFill>
                <a:latin typeface="Arimo"/>
                <a:ea typeface="Arimo"/>
                <a:cs typeface="Arimo"/>
                <a:sym typeface="Arimo"/>
              </a:rPr>
              <a:t>Functional &amp; Non Functional Requirements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2034543" y="444096"/>
            <a:ext cx="14218914" cy="1711960"/>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Use Case Diagram</a:t>
            </a:r>
          </a:p>
        </p:txBody>
      </p:sp>
      <p:sp>
        <p:nvSpPr>
          <p:cNvPr name="Freeform 7" id="7"/>
          <p:cNvSpPr/>
          <p:nvPr/>
        </p:nvSpPr>
        <p:spPr>
          <a:xfrm flipH="false" flipV="false" rot="0">
            <a:off x="5671402" y="2201776"/>
            <a:ext cx="6945195" cy="7100454"/>
          </a:xfrm>
          <a:custGeom>
            <a:avLst/>
            <a:gdLst/>
            <a:ahLst/>
            <a:cxnLst/>
            <a:rect r="r" b="b" t="t" l="l"/>
            <a:pathLst>
              <a:path h="7100454" w="6945195">
                <a:moveTo>
                  <a:pt x="0" y="0"/>
                </a:moveTo>
                <a:lnTo>
                  <a:pt x="6945196" y="0"/>
                </a:lnTo>
                <a:lnTo>
                  <a:pt x="6945196" y="7100454"/>
                </a:lnTo>
                <a:lnTo>
                  <a:pt x="0" y="7100454"/>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006803" y="354050"/>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Functional &amp; Non Functional Requirements</a:t>
            </a:r>
          </a:p>
        </p:txBody>
      </p:sp>
      <p:sp>
        <p:nvSpPr>
          <p:cNvPr name="TextBox 7" id="7"/>
          <p:cNvSpPr txBox="true"/>
          <p:nvPr/>
        </p:nvSpPr>
        <p:spPr>
          <a:xfrm rot="0">
            <a:off x="2509421" y="3466315"/>
            <a:ext cx="14488670" cy="3447273"/>
          </a:xfrm>
          <a:prstGeom prst="rect">
            <a:avLst/>
          </a:prstGeom>
        </p:spPr>
        <p:txBody>
          <a:bodyPr anchor="t" rtlCol="false" tIns="0" lIns="0" bIns="0" rIns="0">
            <a:spAutoFit/>
          </a:bodyPr>
          <a:lstStyle/>
          <a:p>
            <a:pPr algn="l" marL="652867" indent="-326434" lvl="1">
              <a:lnSpc>
                <a:spcPts val="3116"/>
              </a:lnSpc>
              <a:buFont typeface="Arial"/>
              <a:buChar char="•"/>
            </a:pPr>
            <a:r>
              <a:rPr lang="en-US" b="true" sz="3607">
                <a:solidFill>
                  <a:srgbClr val="000000"/>
                </a:solidFill>
                <a:latin typeface="Arimo Bold"/>
                <a:ea typeface="Arimo Bold"/>
                <a:cs typeface="Arimo Bold"/>
                <a:sym typeface="Arimo Bold"/>
              </a:rPr>
              <a:t>Functional     				       Non Functional</a:t>
            </a:r>
          </a:p>
          <a:p>
            <a:pPr algn="l" marL="552426" indent="-276213" lvl="1">
              <a:lnSpc>
                <a:spcPts val="2637"/>
              </a:lnSpc>
              <a:buFont typeface="Arial"/>
              <a:buChar char="•"/>
            </a:pPr>
            <a:r>
              <a:rPr lang="en-US" sz="3052">
                <a:solidFill>
                  <a:srgbClr val="000000"/>
                </a:solidFill>
                <a:latin typeface="Arimo"/>
                <a:ea typeface="Arimo"/>
                <a:cs typeface="Arimo"/>
                <a:sym typeface="Arimo"/>
              </a:rPr>
              <a:t>Sign up			 			                Performance</a:t>
            </a:r>
          </a:p>
          <a:p>
            <a:pPr algn="l" marL="552426" indent="-276213" lvl="1">
              <a:lnSpc>
                <a:spcPts val="2637"/>
              </a:lnSpc>
              <a:buFont typeface="Arial"/>
              <a:buChar char="•"/>
            </a:pPr>
            <a:r>
              <a:rPr lang="en-US" sz="3052">
                <a:solidFill>
                  <a:srgbClr val="000000"/>
                </a:solidFill>
                <a:latin typeface="Arimo"/>
                <a:ea typeface="Arimo"/>
                <a:cs typeface="Arimo"/>
                <a:sym typeface="Arimo"/>
              </a:rPr>
              <a:t>Login					            	        Accuracy</a:t>
            </a:r>
          </a:p>
          <a:p>
            <a:pPr algn="l" marL="552426" indent="-276213" lvl="1">
              <a:lnSpc>
                <a:spcPts val="2637"/>
              </a:lnSpc>
              <a:buFont typeface="Arial"/>
              <a:buChar char="•"/>
            </a:pPr>
            <a:r>
              <a:rPr lang="en-US" sz="3052">
                <a:solidFill>
                  <a:srgbClr val="000000"/>
                </a:solidFill>
                <a:latin typeface="Arimo"/>
                <a:ea typeface="Arimo"/>
                <a:cs typeface="Arimo"/>
                <a:sym typeface="Arimo"/>
              </a:rPr>
              <a:t>Interact with Dashboard			    Scalability</a:t>
            </a:r>
          </a:p>
          <a:p>
            <a:pPr algn="l" marL="552426" indent="-276213" lvl="1">
              <a:lnSpc>
                <a:spcPts val="2637"/>
              </a:lnSpc>
            </a:pPr>
            <a:r>
              <a:rPr lang="en-US" sz="3052">
                <a:solidFill>
                  <a:srgbClr val="000000"/>
                </a:solidFill>
                <a:latin typeface="Arimo"/>
                <a:ea typeface="Arimo"/>
                <a:cs typeface="Arimo"/>
                <a:sym typeface="Arimo"/>
              </a:rPr>
              <a:t>Emotion Input 					            Security</a:t>
            </a:r>
          </a:p>
          <a:p>
            <a:pPr algn="l" marL="552426" indent="-276213" lvl="1">
              <a:lnSpc>
                <a:spcPts val="2637"/>
              </a:lnSpc>
              <a:buFont typeface="Arial"/>
              <a:buChar char="•"/>
            </a:pPr>
            <a:r>
              <a:rPr lang="en-US" sz="3052">
                <a:solidFill>
                  <a:srgbClr val="000000"/>
                </a:solidFill>
                <a:latin typeface="Arimo"/>
                <a:ea typeface="Arimo"/>
                <a:cs typeface="Arimo"/>
                <a:sym typeface="Arimo"/>
              </a:rPr>
              <a:t>Emotion Analysis					    Reliability</a:t>
            </a:r>
          </a:p>
          <a:p>
            <a:pPr algn="l" marL="552426" indent="-276213" lvl="1">
              <a:lnSpc>
                <a:spcPts val="2637"/>
              </a:lnSpc>
              <a:buFont typeface="Arial"/>
              <a:buChar char="•"/>
            </a:pPr>
            <a:r>
              <a:rPr lang="en-US" sz="3052">
                <a:solidFill>
                  <a:srgbClr val="000000"/>
                </a:solidFill>
                <a:latin typeface="Arimo"/>
                <a:ea typeface="Arimo"/>
                <a:cs typeface="Arimo"/>
                <a:sym typeface="Arimo"/>
              </a:rPr>
              <a:t>Response					                Compatibility</a:t>
            </a:r>
          </a:p>
          <a:p>
            <a:pPr algn="l" marL="552426" indent="-276213" lvl="1">
              <a:lnSpc>
                <a:spcPts val="2637"/>
              </a:lnSpc>
              <a:buFont typeface="Arial"/>
              <a:buChar char="•"/>
            </a:pPr>
            <a:r>
              <a:rPr lang="en-US" sz="3052">
                <a:solidFill>
                  <a:srgbClr val="000000"/>
                </a:solidFill>
                <a:latin typeface="Arimo"/>
                <a:ea typeface="Arimo"/>
                <a:cs typeface="Arimo"/>
                <a:sym typeface="Arimo"/>
              </a:rPr>
              <a:t>				 		                            Usability </a:t>
            </a:r>
            <a:r>
              <a:rPr lang="en-US" sz="3052">
                <a:solidFill>
                  <a:srgbClr val="1CADE4"/>
                </a:solidFill>
                <a:latin typeface="Arimo"/>
                <a:ea typeface="Arimo"/>
                <a:cs typeface="Arimo"/>
                <a:sym typeface="Arimo"/>
              </a:rPr>
              <a:t>                                    </a:t>
            </a:r>
          </a:p>
          <a:p>
            <a:pPr algn="l" marL="552426" indent="-276213" lvl="1">
              <a:lnSpc>
                <a:spcPts val="2637"/>
              </a:lnSpc>
              <a:buFont typeface="Arial"/>
              <a:buChar char="•"/>
            </a:pPr>
            <a:r>
              <a:rPr lang="en-US" sz="3052">
                <a:solidFill>
                  <a:srgbClr val="1CADE4"/>
                </a:solidFill>
                <a:latin typeface="Arimo"/>
                <a:ea typeface="Arimo"/>
                <a:cs typeface="Arimo"/>
                <a:sym typeface="Arimo"/>
              </a:rPr>
              <a:t> .                                                  </a:t>
            </a:r>
            <a:r>
              <a:rPr lang="en-US" sz="3052">
                <a:solidFill>
                  <a:srgbClr val="000000"/>
                </a:solidFill>
                <a:latin typeface="Arimo"/>
                <a:ea typeface="Arimo"/>
                <a:cs typeface="Arimo"/>
                <a:sym typeface="Arimo"/>
              </a:rPr>
              <a:t>Adaptability</a:t>
            </a:r>
          </a:p>
          <a:p>
            <a:pPr algn="l" marL="659035" indent="-329517" lvl="1">
              <a:lnSpc>
                <a:spcPts val="2637"/>
              </a:lnSpc>
              <a:buFont typeface="Arial"/>
              <a:buChar char="•"/>
            </a:pPr>
            <a:r>
              <a:rPr lang="en-US" sz="3052">
                <a:solidFill>
                  <a:srgbClr val="1CADE4"/>
                </a:solidFill>
                <a:latin typeface="Arimo"/>
                <a:ea typeface="Arimo"/>
                <a:cs typeface="Arimo"/>
                <a:sym typeface="Arimo"/>
              </a:rPr>
              <a:t>                      </a:t>
            </a:r>
            <a:r>
              <a:rPr lang="en-US" sz="3052">
                <a:solidFill>
                  <a:srgbClr val="1CADE4"/>
                </a:solidFill>
                <a:latin typeface="Arimo"/>
                <a:ea typeface="Arimo"/>
                <a:cs typeface="Arimo"/>
                <a:sym typeface="Arimo"/>
              </a:rPr>
              <a:t>                              </a:t>
            </a:r>
            <a:r>
              <a:rPr lang="en-US" sz="3052">
                <a:solidFill>
                  <a:srgbClr val="000000"/>
                </a:solidFill>
                <a:latin typeface="Arimo"/>
                <a:ea typeface="Arimo"/>
                <a:cs typeface="Arimo"/>
                <a:sym typeface="Arimo"/>
              </a:rPr>
              <a:t>Testing</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382187" y="483990"/>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System Design</a:t>
            </a:r>
          </a:p>
        </p:txBody>
      </p:sp>
      <p:sp>
        <p:nvSpPr>
          <p:cNvPr name="TextBox 7" id="7"/>
          <p:cNvSpPr txBox="true"/>
          <p:nvPr/>
        </p:nvSpPr>
        <p:spPr>
          <a:xfrm rot="0">
            <a:off x="1845149" y="2334317"/>
            <a:ext cx="14488670" cy="5934075"/>
          </a:xfrm>
          <a:prstGeom prst="rect">
            <a:avLst/>
          </a:prstGeom>
        </p:spPr>
        <p:txBody>
          <a:bodyPr anchor="t" rtlCol="false" tIns="0" lIns="0" bIns="0" rIns="0">
            <a:spAutoFit/>
          </a:bodyPr>
          <a:lstStyle/>
          <a:p>
            <a:pPr algn="l" marL="597217" indent="-298609" lvl="1">
              <a:lnSpc>
                <a:spcPts val="3564"/>
              </a:lnSpc>
              <a:buFont typeface="Arial"/>
              <a:buChar char="•"/>
            </a:pPr>
            <a:r>
              <a:rPr lang="en-US" sz="3300">
                <a:solidFill>
                  <a:srgbClr val="000000"/>
                </a:solidFill>
                <a:latin typeface="Arimo"/>
                <a:ea typeface="Arimo"/>
                <a:cs typeface="Arimo"/>
                <a:sym typeface="Arimo"/>
              </a:rPr>
              <a:t>Architecture Design</a:t>
            </a:r>
          </a:p>
          <a:p>
            <a:pPr algn="l" marL="597217" indent="-298609" lvl="1">
              <a:lnSpc>
                <a:spcPts val="3564"/>
              </a:lnSpc>
              <a:buFont typeface="Arial"/>
              <a:buChar char="•"/>
            </a:pPr>
            <a:r>
              <a:rPr lang="en-US" sz="3300">
                <a:solidFill>
                  <a:srgbClr val="000000"/>
                </a:solidFill>
                <a:latin typeface="Arimo"/>
                <a:ea typeface="Arimo"/>
                <a:cs typeface="Arimo"/>
                <a:sym typeface="Arimo"/>
              </a:rPr>
              <a:t>Entity Relationship Diagram</a:t>
            </a:r>
          </a:p>
          <a:p>
            <a:pPr algn="l" marL="597217" indent="-298609" lvl="1">
              <a:lnSpc>
                <a:spcPts val="3564"/>
              </a:lnSpc>
              <a:buFont typeface="Arial"/>
              <a:buChar char="•"/>
            </a:pPr>
            <a:r>
              <a:rPr lang="en-US" sz="3300">
                <a:solidFill>
                  <a:srgbClr val="000000"/>
                </a:solidFill>
                <a:latin typeface="Arimo"/>
                <a:ea typeface="Arimo"/>
                <a:cs typeface="Arimo"/>
                <a:sym typeface="Arimo"/>
              </a:rPr>
              <a:t>Class Diagram</a:t>
            </a:r>
          </a:p>
          <a:p>
            <a:pPr algn="l" marL="597217" indent="-298609" lvl="1">
              <a:lnSpc>
                <a:spcPts val="3564"/>
              </a:lnSpc>
              <a:buFont typeface="Arial"/>
              <a:buChar char="•"/>
            </a:pPr>
            <a:r>
              <a:rPr lang="en-US" sz="3300">
                <a:solidFill>
                  <a:srgbClr val="000000"/>
                </a:solidFill>
                <a:latin typeface="Arimo"/>
                <a:ea typeface="Arimo"/>
                <a:cs typeface="Arimo"/>
                <a:sym typeface="Arimo"/>
              </a:rPr>
              <a:t>Sequence / Collaboration Diagram</a:t>
            </a:r>
          </a:p>
          <a:p>
            <a:pPr algn="l" marL="597217" indent="-298609" lvl="1">
              <a:lnSpc>
                <a:spcPts val="3564"/>
              </a:lnSpc>
              <a:buFont typeface="Arial"/>
              <a:buChar char="•"/>
            </a:pPr>
            <a:r>
              <a:rPr lang="en-US" sz="3300">
                <a:solidFill>
                  <a:srgbClr val="000000"/>
                </a:solidFill>
                <a:latin typeface="Arimo"/>
                <a:ea typeface="Arimo"/>
                <a:cs typeface="Arimo"/>
                <a:sym typeface="Arimo"/>
              </a:rPr>
              <a:t>Activity Diagram</a:t>
            </a:r>
          </a:p>
          <a:p>
            <a:pPr algn="l" marL="597217" indent="-298609" lvl="1">
              <a:lnSpc>
                <a:spcPts val="356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862424" y="325173"/>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Architecture Design</a:t>
            </a:r>
          </a:p>
        </p:txBody>
      </p:sp>
      <p:grpSp>
        <p:nvGrpSpPr>
          <p:cNvPr name="Group 7" id="7"/>
          <p:cNvGrpSpPr/>
          <p:nvPr/>
        </p:nvGrpSpPr>
        <p:grpSpPr>
          <a:xfrm rot="0">
            <a:off x="5959403" y="3493294"/>
            <a:ext cx="1852612" cy="397886"/>
            <a:chOff x="0" y="0"/>
            <a:chExt cx="2470150" cy="530514"/>
          </a:xfrm>
        </p:grpSpPr>
        <p:sp>
          <p:nvSpPr>
            <p:cNvPr name="Freeform 8" id="8"/>
            <p:cNvSpPr/>
            <p:nvPr/>
          </p:nvSpPr>
          <p:spPr>
            <a:xfrm flipH="false" flipV="false" rot="0">
              <a:off x="15875" y="15875"/>
              <a:ext cx="2438400" cy="498729"/>
            </a:xfrm>
            <a:custGeom>
              <a:avLst/>
              <a:gdLst/>
              <a:ahLst/>
              <a:cxnLst/>
              <a:rect r="r" b="b" t="t" l="l"/>
              <a:pathLst>
                <a:path h="498729" w="2438400">
                  <a:moveTo>
                    <a:pt x="0" y="0"/>
                  </a:moveTo>
                  <a:lnTo>
                    <a:pt x="2438400" y="0"/>
                  </a:lnTo>
                  <a:lnTo>
                    <a:pt x="2438400" y="498729"/>
                  </a:lnTo>
                  <a:lnTo>
                    <a:pt x="0" y="498729"/>
                  </a:lnTo>
                  <a:close/>
                </a:path>
              </a:pathLst>
            </a:custGeom>
            <a:solidFill>
              <a:srgbClr val="FFFFFF"/>
            </a:solidFill>
          </p:spPr>
        </p:sp>
        <p:sp>
          <p:nvSpPr>
            <p:cNvPr name="Freeform 9" id="9"/>
            <p:cNvSpPr/>
            <p:nvPr/>
          </p:nvSpPr>
          <p:spPr>
            <a:xfrm flipH="false" flipV="false" rot="0">
              <a:off x="0" y="0"/>
              <a:ext cx="2470150" cy="530479"/>
            </a:xfrm>
            <a:custGeom>
              <a:avLst/>
              <a:gdLst/>
              <a:ahLst/>
              <a:cxnLst/>
              <a:rect r="r" b="b" t="t" l="l"/>
              <a:pathLst>
                <a:path h="530479" w="2470150">
                  <a:moveTo>
                    <a:pt x="15875" y="0"/>
                  </a:moveTo>
                  <a:lnTo>
                    <a:pt x="2454275" y="0"/>
                  </a:lnTo>
                  <a:cubicBezTo>
                    <a:pt x="2463038" y="0"/>
                    <a:pt x="2470150" y="7112"/>
                    <a:pt x="2470150" y="15875"/>
                  </a:cubicBezTo>
                  <a:lnTo>
                    <a:pt x="2470150" y="514604"/>
                  </a:lnTo>
                  <a:cubicBezTo>
                    <a:pt x="2470150" y="523367"/>
                    <a:pt x="2463038" y="530479"/>
                    <a:pt x="2454275" y="530479"/>
                  </a:cubicBezTo>
                  <a:lnTo>
                    <a:pt x="15875" y="530479"/>
                  </a:lnTo>
                  <a:cubicBezTo>
                    <a:pt x="7112" y="530479"/>
                    <a:pt x="0" y="523367"/>
                    <a:pt x="0" y="514604"/>
                  </a:cubicBezTo>
                  <a:lnTo>
                    <a:pt x="0" y="15875"/>
                  </a:lnTo>
                  <a:cubicBezTo>
                    <a:pt x="0" y="7112"/>
                    <a:pt x="7112" y="0"/>
                    <a:pt x="15875" y="0"/>
                  </a:cubicBezTo>
                  <a:moveTo>
                    <a:pt x="15875" y="31750"/>
                  </a:moveTo>
                  <a:lnTo>
                    <a:pt x="15875" y="15875"/>
                  </a:lnTo>
                  <a:lnTo>
                    <a:pt x="31750" y="15875"/>
                  </a:lnTo>
                  <a:lnTo>
                    <a:pt x="31750" y="514604"/>
                  </a:lnTo>
                  <a:lnTo>
                    <a:pt x="15875" y="514604"/>
                  </a:lnTo>
                  <a:lnTo>
                    <a:pt x="15875" y="498729"/>
                  </a:lnTo>
                  <a:lnTo>
                    <a:pt x="2454275" y="498729"/>
                  </a:lnTo>
                  <a:lnTo>
                    <a:pt x="2454275" y="514604"/>
                  </a:lnTo>
                  <a:lnTo>
                    <a:pt x="2438400" y="514604"/>
                  </a:lnTo>
                  <a:lnTo>
                    <a:pt x="2438400" y="15875"/>
                  </a:lnTo>
                  <a:lnTo>
                    <a:pt x="2454275" y="15875"/>
                  </a:lnTo>
                  <a:lnTo>
                    <a:pt x="2454275" y="31750"/>
                  </a:lnTo>
                  <a:lnTo>
                    <a:pt x="15875" y="31750"/>
                  </a:lnTo>
                  <a:close/>
                </a:path>
              </a:pathLst>
            </a:custGeom>
            <a:solidFill>
              <a:srgbClr val="FFFFFF"/>
            </a:solidFill>
          </p:spPr>
        </p:sp>
      </p:grpSp>
      <p:sp>
        <p:nvSpPr>
          <p:cNvPr name="Freeform 10" id="10"/>
          <p:cNvSpPr/>
          <p:nvPr/>
        </p:nvSpPr>
        <p:spPr>
          <a:xfrm flipH="false" flipV="false" rot="0">
            <a:off x="4895081" y="2196368"/>
            <a:ext cx="8894234" cy="7127740"/>
          </a:xfrm>
          <a:custGeom>
            <a:avLst/>
            <a:gdLst/>
            <a:ahLst/>
            <a:cxnLst/>
            <a:rect r="r" b="b" t="t" l="l"/>
            <a:pathLst>
              <a:path h="7127740" w="8894234">
                <a:moveTo>
                  <a:pt x="0" y="0"/>
                </a:moveTo>
                <a:lnTo>
                  <a:pt x="8894233" y="0"/>
                </a:lnTo>
                <a:lnTo>
                  <a:pt x="8894233" y="7127740"/>
                </a:lnTo>
                <a:lnTo>
                  <a:pt x="0" y="712774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891298" y="310736"/>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Entity Relationship Diagram</a:t>
            </a:r>
          </a:p>
        </p:txBody>
      </p:sp>
      <p:sp>
        <p:nvSpPr>
          <p:cNvPr name="Freeform 7" id="7"/>
          <p:cNvSpPr/>
          <p:nvPr/>
        </p:nvSpPr>
        <p:spPr>
          <a:xfrm flipH="false" flipV="false" rot="0">
            <a:off x="4023864" y="2375894"/>
            <a:ext cx="9097950" cy="7051468"/>
          </a:xfrm>
          <a:custGeom>
            <a:avLst/>
            <a:gdLst/>
            <a:ahLst/>
            <a:cxnLst/>
            <a:rect r="r" b="b" t="t" l="l"/>
            <a:pathLst>
              <a:path h="7051468" w="9097950">
                <a:moveTo>
                  <a:pt x="0" y="0"/>
                </a:moveTo>
                <a:lnTo>
                  <a:pt x="9097950" y="0"/>
                </a:lnTo>
                <a:lnTo>
                  <a:pt x="9097950" y="7051468"/>
                </a:lnTo>
                <a:lnTo>
                  <a:pt x="0" y="7051468"/>
                </a:lnTo>
                <a:lnTo>
                  <a:pt x="0" y="0"/>
                </a:lnTo>
                <a:close/>
              </a:path>
            </a:pathLst>
          </a:custGeom>
          <a:blipFill>
            <a:blip r:embed="rId2"/>
            <a:stretch>
              <a:fillRect l="0" t="0" r="0" b="0"/>
            </a:stretch>
          </a:blipFill>
        </p:spPr>
      </p:sp>
      <p:grpSp>
        <p:nvGrpSpPr>
          <p:cNvPr name="Group 8" id="8"/>
          <p:cNvGrpSpPr/>
          <p:nvPr/>
        </p:nvGrpSpPr>
        <p:grpSpPr>
          <a:xfrm rot="0">
            <a:off x="7881143" y="3852068"/>
            <a:ext cx="1865313" cy="271462"/>
            <a:chOff x="0" y="0"/>
            <a:chExt cx="2487084" cy="361950"/>
          </a:xfrm>
        </p:grpSpPr>
        <p:sp>
          <p:nvSpPr>
            <p:cNvPr name="Freeform 9" id="9"/>
            <p:cNvSpPr/>
            <p:nvPr/>
          </p:nvSpPr>
          <p:spPr>
            <a:xfrm flipH="false" flipV="false" rot="0">
              <a:off x="15875" y="15875"/>
              <a:ext cx="2455291" cy="330200"/>
            </a:xfrm>
            <a:custGeom>
              <a:avLst/>
              <a:gdLst/>
              <a:ahLst/>
              <a:cxnLst/>
              <a:rect r="r" b="b" t="t" l="l"/>
              <a:pathLst>
                <a:path h="330200" w="2455291">
                  <a:moveTo>
                    <a:pt x="0" y="0"/>
                  </a:moveTo>
                  <a:lnTo>
                    <a:pt x="2455291" y="0"/>
                  </a:lnTo>
                  <a:lnTo>
                    <a:pt x="2455291" y="330200"/>
                  </a:lnTo>
                  <a:lnTo>
                    <a:pt x="0" y="330200"/>
                  </a:lnTo>
                  <a:close/>
                </a:path>
              </a:pathLst>
            </a:custGeom>
            <a:solidFill>
              <a:srgbClr val="FFFFFF"/>
            </a:solidFill>
          </p:spPr>
        </p:sp>
        <p:sp>
          <p:nvSpPr>
            <p:cNvPr name="Freeform 10" id="10"/>
            <p:cNvSpPr/>
            <p:nvPr/>
          </p:nvSpPr>
          <p:spPr>
            <a:xfrm flipH="false" flipV="false" rot="0">
              <a:off x="0" y="0"/>
              <a:ext cx="2487041" cy="361950"/>
            </a:xfrm>
            <a:custGeom>
              <a:avLst/>
              <a:gdLst/>
              <a:ahLst/>
              <a:cxnLst/>
              <a:rect r="r" b="b" t="t" l="l"/>
              <a:pathLst>
                <a:path h="361950" w="2487041">
                  <a:moveTo>
                    <a:pt x="15875" y="0"/>
                  </a:moveTo>
                  <a:lnTo>
                    <a:pt x="2471166" y="0"/>
                  </a:lnTo>
                  <a:cubicBezTo>
                    <a:pt x="2479929" y="0"/>
                    <a:pt x="2487041" y="7112"/>
                    <a:pt x="2487041" y="15875"/>
                  </a:cubicBezTo>
                  <a:lnTo>
                    <a:pt x="2487041" y="346075"/>
                  </a:lnTo>
                  <a:cubicBezTo>
                    <a:pt x="2487041" y="354838"/>
                    <a:pt x="2479929" y="361950"/>
                    <a:pt x="2471166" y="361950"/>
                  </a:cubicBezTo>
                  <a:lnTo>
                    <a:pt x="15875" y="361950"/>
                  </a:lnTo>
                  <a:cubicBezTo>
                    <a:pt x="7112" y="361950"/>
                    <a:pt x="0" y="354838"/>
                    <a:pt x="0" y="346075"/>
                  </a:cubicBezTo>
                  <a:lnTo>
                    <a:pt x="0" y="15875"/>
                  </a:lnTo>
                  <a:cubicBezTo>
                    <a:pt x="0" y="7112"/>
                    <a:pt x="7112" y="0"/>
                    <a:pt x="15875" y="0"/>
                  </a:cubicBezTo>
                  <a:moveTo>
                    <a:pt x="15875" y="31750"/>
                  </a:moveTo>
                  <a:lnTo>
                    <a:pt x="15875" y="15875"/>
                  </a:lnTo>
                  <a:lnTo>
                    <a:pt x="31750" y="15875"/>
                  </a:lnTo>
                  <a:lnTo>
                    <a:pt x="31750" y="346075"/>
                  </a:lnTo>
                  <a:lnTo>
                    <a:pt x="15875" y="346075"/>
                  </a:lnTo>
                  <a:lnTo>
                    <a:pt x="15875" y="330200"/>
                  </a:lnTo>
                  <a:lnTo>
                    <a:pt x="2471166" y="330200"/>
                  </a:lnTo>
                  <a:lnTo>
                    <a:pt x="2471166" y="346075"/>
                  </a:lnTo>
                  <a:lnTo>
                    <a:pt x="2455291" y="346075"/>
                  </a:lnTo>
                  <a:lnTo>
                    <a:pt x="2455291" y="15875"/>
                  </a:lnTo>
                  <a:lnTo>
                    <a:pt x="2471166" y="15875"/>
                  </a:lnTo>
                  <a:lnTo>
                    <a:pt x="2471166" y="31750"/>
                  </a:lnTo>
                  <a:lnTo>
                    <a:pt x="15875" y="31750"/>
                  </a:lnTo>
                  <a:close/>
                </a:path>
              </a:pathLst>
            </a:custGeom>
            <a:solidFill>
              <a:srgbClr val="FFFFFF"/>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353312" y="426240"/>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Class Diagram</a:t>
            </a:r>
          </a:p>
        </p:txBody>
      </p:sp>
      <p:sp>
        <p:nvSpPr>
          <p:cNvPr name="Freeform 7" id="7"/>
          <p:cNvSpPr/>
          <p:nvPr/>
        </p:nvSpPr>
        <p:spPr>
          <a:xfrm flipH="false" flipV="false" rot="0">
            <a:off x="4222250" y="2242017"/>
            <a:ext cx="9175096" cy="7012820"/>
          </a:xfrm>
          <a:custGeom>
            <a:avLst/>
            <a:gdLst/>
            <a:ahLst/>
            <a:cxnLst/>
            <a:rect r="r" b="b" t="t" l="l"/>
            <a:pathLst>
              <a:path h="7012820" w="9175096">
                <a:moveTo>
                  <a:pt x="0" y="0"/>
                </a:moveTo>
                <a:lnTo>
                  <a:pt x="9175096" y="0"/>
                </a:lnTo>
                <a:lnTo>
                  <a:pt x="9175096" y="7012820"/>
                </a:lnTo>
                <a:lnTo>
                  <a:pt x="0" y="7012820"/>
                </a:lnTo>
                <a:lnTo>
                  <a:pt x="0" y="0"/>
                </a:lnTo>
                <a:close/>
              </a:path>
            </a:pathLst>
          </a:custGeom>
          <a:blipFill>
            <a:blip r:embed="rId2"/>
            <a:stretch>
              <a:fillRect l="-770" t="0" r="-770" b="0"/>
            </a:stretch>
          </a:blipFill>
        </p:spPr>
      </p:sp>
      <p:grpSp>
        <p:nvGrpSpPr>
          <p:cNvPr name="Group 8" id="8"/>
          <p:cNvGrpSpPr/>
          <p:nvPr/>
        </p:nvGrpSpPr>
        <p:grpSpPr>
          <a:xfrm rot="0">
            <a:off x="7968311" y="3673403"/>
            <a:ext cx="1811049" cy="190066"/>
            <a:chOff x="0" y="0"/>
            <a:chExt cx="2414732" cy="253422"/>
          </a:xfrm>
        </p:grpSpPr>
        <p:sp>
          <p:nvSpPr>
            <p:cNvPr name="Freeform 9" id="9"/>
            <p:cNvSpPr/>
            <p:nvPr/>
          </p:nvSpPr>
          <p:spPr>
            <a:xfrm flipH="false" flipV="false" rot="0">
              <a:off x="15875" y="15875"/>
              <a:ext cx="2383028" cy="221615"/>
            </a:xfrm>
            <a:custGeom>
              <a:avLst/>
              <a:gdLst/>
              <a:ahLst/>
              <a:cxnLst/>
              <a:rect r="r" b="b" t="t" l="l"/>
              <a:pathLst>
                <a:path h="221615" w="2383028">
                  <a:moveTo>
                    <a:pt x="0" y="0"/>
                  </a:moveTo>
                  <a:lnTo>
                    <a:pt x="2383028" y="0"/>
                  </a:lnTo>
                  <a:lnTo>
                    <a:pt x="2383028" y="221615"/>
                  </a:lnTo>
                  <a:lnTo>
                    <a:pt x="0" y="221615"/>
                  </a:lnTo>
                  <a:close/>
                </a:path>
              </a:pathLst>
            </a:custGeom>
            <a:solidFill>
              <a:srgbClr val="FFFFFF"/>
            </a:solidFill>
          </p:spPr>
        </p:sp>
        <p:sp>
          <p:nvSpPr>
            <p:cNvPr name="Freeform 10" id="10"/>
            <p:cNvSpPr/>
            <p:nvPr/>
          </p:nvSpPr>
          <p:spPr>
            <a:xfrm flipH="false" flipV="false" rot="0">
              <a:off x="0" y="0"/>
              <a:ext cx="2414778" cy="253365"/>
            </a:xfrm>
            <a:custGeom>
              <a:avLst/>
              <a:gdLst/>
              <a:ahLst/>
              <a:cxnLst/>
              <a:rect r="r" b="b" t="t" l="l"/>
              <a:pathLst>
                <a:path h="253365" w="2414778">
                  <a:moveTo>
                    <a:pt x="15875" y="0"/>
                  </a:moveTo>
                  <a:lnTo>
                    <a:pt x="2398903" y="0"/>
                  </a:lnTo>
                  <a:cubicBezTo>
                    <a:pt x="2407666" y="0"/>
                    <a:pt x="2414778" y="7112"/>
                    <a:pt x="2414778" y="15875"/>
                  </a:cubicBezTo>
                  <a:lnTo>
                    <a:pt x="2414778" y="237490"/>
                  </a:lnTo>
                  <a:cubicBezTo>
                    <a:pt x="2414778" y="246253"/>
                    <a:pt x="2407666" y="253365"/>
                    <a:pt x="2398903" y="253365"/>
                  </a:cubicBezTo>
                  <a:lnTo>
                    <a:pt x="15875" y="253365"/>
                  </a:lnTo>
                  <a:cubicBezTo>
                    <a:pt x="7112" y="253365"/>
                    <a:pt x="0" y="246253"/>
                    <a:pt x="0" y="237490"/>
                  </a:cubicBezTo>
                  <a:lnTo>
                    <a:pt x="0" y="15875"/>
                  </a:lnTo>
                  <a:cubicBezTo>
                    <a:pt x="0" y="7112"/>
                    <a:pt x="7112" y="0"/>
                    <a:pt x="15875" y="0"/>
                  </a:cubicBezTo>
                  <a:moveTo>
                    <a:pt x="15875" y="31750"/>
                  </a:moveTo>
                  <a:lnTo>
                    <a:pt x="15875" y="15875"/>
                  </a:lnTo>
                  <a:lnTo>
                    <a:pt x="31750" y="15875"/>
                  </a:lnTo>
                  <a:lnTo>
                    <a:pt x="31750" y="237490"/>
                  </a:lnTo>
                  <a:lnTo>
                    <a:pt x="15875" y="237490"/>
                  </a:lnTo>
                  <a:lnTo>
                    <a:pt x="15875" y="221615"/>
                  </a:lnTo>
                  <a:lnTo>
                    <a:pt x="2398903" y="221615"/>
                  </a:lnTo>
                  <a:lnTo>
                    <a:pt x="2398903" y="237490"/>
                  </a:lnTo>
                  <a:lnTo>
                    <a:pt x="2383028" y="237490"/>
                  </a:lnTo>
                  <a:lnTo>
                    <a:pt x="2383028" y="15875"/>
                  </a:lnTo>
                  <a:lnTo>
                    <a:pt x="2398903" y="15875"/>
                  </a:lnTo>
                  <a:lnTo>
                    <a:pt x="2398903" y="31750"/>
                  </a:lnTo>
                  <a:lnTo>
                    <a:pt x="15875" y="31750"/>
                  </a:lnTo>
                  <a:close/>
                </a:path>
              </a:pathLst>
            </a:custGeom>
            <a:solidFill>
              <a:srgbClr val="FFFFFF"/>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151181" y="325173"/>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Sequence / Collaboration Diagram</a:t>
            </a:r>
          </a:p>
        </p:txBody>
      </p:sp>
      <p:sp>
        <p:nvSpPr>
          <p:cNvPr name="Freeform 7" id="7"/>
          <p:cNvSpPr/>
          <p:nvPr/>
        </p:nvSpPr>
        <p:spPr>
          <a:xfrm flipH="false" flipV="false" rot="0">
            <a:off x="1521619" y="2175732"/>
            <a:ext cx="14923293" cy="7113606"/>
          </a:xfrm>
          <a:custGeom>
            <a:avLst/>
            <a:gdLst/>
            <a:ahLst/>
            <a:cxnLst/>
            <a:rect r="r" b="b" t="t" l="l"/>
            <a:pathLst>
              <a:path h="7113606" w="14923293">
                <a:moveTo>
                  <a:pt x="0" y="0"/>
                </a:moveTo>
                <a:lnTo>
                  <a:pt x="14923293" y="0"/>
                </a:lnTo>
                <a:lnTo>
                  <a:pt x="14923293" y="7113606"/>
                </a:lnTo>
                <a:lnTo>
                  <a:pt x="0" y="7113606"/>
                </a:lnTo>
                <a:lnTo>
                  <a:pt x="0" y="0"/>
                </a:lnTo>
                <a:close/>
              </a:path>
            </a:pathLst>
          </a:custGeom>
          <a:blipFill>
            <a:blip r:embed="rId2"/>
            <a:stretch>
              <a:fillRect l="0" t="0" r="0" b="0"/>
            </a:stretch>
          </a:blipFill>
        </p:spPr>
      </p:sp>
      <p:grpSp>
        <p:nvGrpSpPr>
          <p:cNvPr name="Group 8" id="8"/>
          <p:cNvGrpSpPr/>
          <p:nvPr/>
        </p:nvGrpSpPr>
        <p:grpSpPr>
          <a:xfrm rot="0">
            <a:off x="5391367" y="2364571"/>
            <a:ext cx="2060430" cy="376682"/>
            <a:chOff x="0" y="0"/>
            <a:chExt cx="2747240" cy="502242"/>
          </a:xfrm>
        </p:grpSpPr>
        <p:sp>
          <p:nvSpPr>
            <p:cNvPr name="Freeform 9" id="9"/>
            <p:cNvSpPr/>
            <p:nvPr/>
          </p:nvSpPr>
          <p:spPr>
            <a:xfrm flipH="false" flipV="false" rot="0">
              <a:off x="15875" y="15875"/>
              <a:ext cx="2715514" cy="470535"/>
            </a:xfrm>
            <a:custGeom>
              <a:avLst/>
              <a:gdLst/>
              <a:ahLst/>
              <a:cxnLst/>
              <a:rect r="r" b="b" t="t" l="l"/>
              <a:pathLst>
                <a:path h="470535" w="2715514">
                  <a:moveTo>
                    <a:pt x="0" y="0"/>
                  </a:moveTo>
                  <a:lnTo>
                    <a:pt x="2715514" y="0"/>
                  </a:lnTo>
                  <a:lnTo>
                    <a:pt x="2715514" y="470535"/>
                  </a:lnTo>
                  <a:lnTo>
                    <a:pt x="0" y="470535"/>
                  </a:lnTo>
                  <a:close/>
                </a:path>
              </a:pathLst>
            </a:custGeom>
            <a:solidFill>
              <a:srgbClr val="FFFFFF"/>
            </a:solidFill>
          </p:spPr>
        </p:sp>
        <p:sp>
          <p:nvSpPr>
            <p:cNvPr name="Freeform 10" id="10"/>
            <p:cNvSpPr/>
            <p:nvPr/>
          </p:nvSpPr>
          <p:spPr>
            <a:xfrm flipH="false" flipV="false" rot="0">
              <a:off x="0" y="0"/>
              <a:ext cx="2747264" cy="502285"/>
            </a:xfrm>
            <a:custGeom>
              <a:avLst/>
              <a:gdLst/>
              <a:ahLst/>
              <a:cxnLst/>
              <a:rect r="r" b="b" t="t" l="l"/>
              <a:pathLst>
                <a:path h="502285" w="2747264">
                  <a:moveTo>
                    <a:pt x="15875" y="0"/>
                  </a:moveTo>
                  <a:lnTo>
                    <a:pt x="2731389" y="0"/>
                  </a:lnTo>
                  <a:cubicBezTo>
                    <a:pt x="2740152" y="0"/>
                    <a:pt x="2747264" y="7112"/>
                    <a:pt x="2747264" y="15875"/>
                  </a:cubicBezTo>
                  <a:lnTo>
                    <a:pt x="2747264" y="486410"/>
                  </a:lnTo>
                  <a:cubicBezTo>
                    <a:pt x="2747264" y="495173"/>
                    <a:pt x="2740152" y="502285"/>
                    <a:pt x="2731389" y="502285"/>
                  </a:cubicBezTo>
                  <a:lnTo>
                    <a:pt x="15875" y="502285"/>
                  </a:lnTo>
                  <a:cubicBezTo>
                    <a:pt x="7112" y="502285"/>
                    <a:pt x="0" y="495173"/>
                    <a:pt x="0" y="486410"/>
                  </a:cubicBezTo>
                  <a:lnTo>
                    <a:pt x="0" y="15875"/>
                  </a:lnTo>
                  <a:cubicBezTo>
                    <a:pt x="0" y="7112"/>
                    <a:pt x="7112" y="0"/>
                    <a:pt x="15875" y="0"/>
                  </a:cubicBezTo>
                  <a:moveTo>
                    <a:pt x="15875" y="31750"/>
                  </a:moveTo>
                  <a:lnTo>
                    <a:pt x="15875" y="15875"/>
                  </a:lnTo>
                  <a:lnTo>
                    <a:pt x="31750" y="15875"/>
                  </a:lnTo>
                  <a:lnTo>
                    <a:pt x="31750" y="486410"/>
                  </a:lnTo>
                  <a:lnTo>
                    <a:pt x="15875" y="486410"/>
                  </a:lnTo>
                  <a:lnTo>
                    <a:pt x="15875" y="470535"/>
                  </a:lnTo>
                  <a:lnTo>
                    <a:pt x="2731389" y="470535"/>
                  </a:lnTo>
                  <a:lnTo>
                    <a:pt x="2731389" y="486410"/>
                  </a:lnTo>
                  <a:lnTo>
                    <a:pt x="2715514" y="486410"/>
                  </a:lnTo>
                  <a:lnTo>
                    <a:pt x="2715514" y="15875"/>
                  </a:lnTo>
                  <a:lnTo>
                    <a:pt x="2731389" y="15875"/>
                  </a:lnTo>
                  <a:lnTo>
                    <a:pt x="2731389" y="31750"/>
                  </a:lnTo>
                  <a:lnTo>
                    <a:pt x="15875" y="31750"/>
                  </a:lnTo>
                  <a:close/>
                </a:path>
              </a:pathLst>
            </a:custGeom>
            <a:solidFill>
              <a:srgbClr val="FFFFFF"/>
            </a:solidFill>
          </p:spPr>
        </p:sp>
        <p:sp>
          <p:nvSpPr>
            <p:cNvPr name="TextBox 11" id="11"/>
            <p:cNvSpPr txBox="true"/>
            <p:nvPr/>
          </p:nvSpPr>
          <p:spPr>
            <a:xfrm>
              <a:off x="0" y="-19050"/>
              <a:ext cx="2747240" cy="521292"/>
            </a:xfrm>
            <a:prstGeom prst="rect">
              <a:avLst/>
            </a:prstGeom>
          </p:spPr>
          <p:txBody>
            <a:bodyPr anchor="ctr" rtlCol="false" tIns="50800" lIns="50800" bIns="50800" rIns="50800"/>
            <a:lstStyle/>
            <a:p>
              <a:pPr algn="ctr">
                <a:lnSpc>
                  <a:spcPts val="3240"/>
                </a:lnSpc>
              </a:pPr>
              <a:r>
                <a:rPr lang="en-US" sz="2700">
                  <a:solidFill>
                    <a:srgbClr val="000000"/>
                  </a:solidFill>
                  <a:latin typeface="Arimo"/>
                  <a:ea typeface="Arimo"/>
                  <a:cs typeface="Arimo"/>
                  <a:sym typeface="Arimo"/>
                </a:rPr>
                <a:t>System</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411064" y="354050"/>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Activity Diagram</a:t>
            </a:r>
          </a:p>
        </p:txBody>
      </p:sp>
      <p:sp>
        <p:nvSpPr>
          <p:cNvPr name="Freeform 7" id="7"/>
          <p:cNvSpPr/>
          <p:nvPr/>
        </p:nvSpPr>
        <p:spPr>
          <a:xfrm flipH="false" flipV="false" rot="0">
            <a:off x="6070221" y="2085108"/>
            <a:ext cx="5900106" cy="7387740"/>
          </a:xfrm>
          <a:custGeom>
            <a:avLst/>
            <a:gdLst/>
            <a:ahLst/>
            <a:cxnLst/>
            <a:rect r="r" b="b" t="t" l="l"/>
            <a:pathLst>
              <a:path h="7387740" w="5900106">
                <a:moveTo>
                  <a:pt x="0" y="0"/>
                </a:moveTo>
                <a:lnTo>
                  <a:pt x="5900106" y="0"/>
                </a:lnTo>
                <a:lnTo>
                  <a:pt x="5900106" y="7387740"/>
                </a:lnTo>
                <a:lnTo>
                  <a:pt x="0" y="7387740"/>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078992" y="354050"/>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Implementation</a:t>
            </a:r>
          </a:p>
        </p:txBody>
      </p:sp>
      <p:sp>
        <p:nvSpPr>
          <p:cNvPr name="TextBox 7" id="7"/>
          <p:cNvSpPr txBox="true"/>
          <p:nvPr/>
        </p:nvSpPr>
        <p:spPr>
          <a:xfrm rot="0">
            <a:off x="1581912" y="3484245"/>
            <a:ext cx="14488670" cy="5934075"/>
          </a:xfrm>
          <a:prstGeom prst="rect">
            <a:avLst/>
          </a:prstGeom>
        </p:spPr>
        <p:txBody>
          <a:bodyPr anchor="t" rtlCol="false" tIns="0" lIns="0" bIns="0" rIns="0">
            <a:spAutoFit/>
          </a:bodyPr>
          <a:lstStyle/>
          <a:p>
            <a:pPr algn="l" marL="597217" indent="-298609" lvl="1">
              <a:lnSpc>
                <a:spcPts val="3564"/>
              </a:lnSpc>
              <a:buFont typeface="Arial"/>
              <a:buChar char="•"/>
            </a:pPr>
            <a:r>
              <a:rPr lang="en-US" sz="3300">
                <a:solidFill>
                  <a:srgbClr val="000000"/>
                </a:solidFill>
                <a:latin typeface="Arimo"/>
                <a:ea typeface="Arimo"/>
                <a:cs typeface="Arimo"/>
                <a:sym typeface="Arimo"/>
              </a:rPr>
              <a:t>Development Tools &amp; Technologies:</a:t>
            </a:r>
          </a:p>
          <a:p>
            <a:pPr algn="l" marL="597217" indent="-298609" lvl="1">
              <a:lnSpc>
                <a:spcPts val="3564"/>
              </a:lnSpc>
              <a:buFont typeface="Arial"/>
              <a:buChar char="•"/>
            </a:pPr>
            <a:r>
              <a:rPr lang="en-US" sz="3300">
                <a:solidFill>
                  <a:srgbClr val="000000"/>
                </a:solidFill>
                <a:latin typeface="Arimo"/>
                <a:ea typeface="Arimo"/>
                <a:cs typeface="Arimo"/>
                <a:sym typeface="Arimo"/>
              </a:rPr>
              <a:t>Best Practices / Coding Standards</a:t>
            </a:r>
          </a:p>
          <a:p>
            <a:pPr algn="l" marL="597217" indent="-298609" lvl="1">
              <a:lnSpc>
                <a:spcPts val="3564"/>
              </a:lnSpc>
              <a:buFont typeface="Arial"/>
              <a:buChar char="•"/>
            </a:pPr>
            <a:r>
              <a:rPr lang="en-US" sz="3300">
                <a:solidFill>
                  <a:srgbClr val="000000"/>
                </a:solidFill>
                <a:latin typeface="Arimo"/>
                <a:ea typeface="Arimo"/>
                <a:cs typeface="Arimo"/>
                <a:sym typeface="Arimo"/>
              </a:rPr>
              <a:t>Libraries / Components / Web Services</a:t>
            </a:r>
          </a:p>
          <a:p>
            <a:pPr algn="l" marL="597217" indent="-298609" lvl="1">
              <a:lnSpc>
                <a:spcPts val="3564"/>
              </a:lnSpc>
            </a:pP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716910" y="906110"/>
            <a:ext cx="14218914" cy="1711960"/>
          </a:xfrm>
          <a:prstGeom prst="rect">
            <a:avLst/>
          </a:prstGeom>
        </p:spPr>
        <p:txBody>
          <a:bodyPr anchor="t" rtlCol="false" tIns="0" lIns="0" bIns="0" rIns="0">
            <a:spAutoFit/>
          </a:bodyPr>
          <a:lstStyle/>
          <a:p>
            <a:pPr algn="l">
              <a:lnSpc>
                <a:spcPts val="6480"/>
              </a:lnSpc>
            </a:pPr>
            <a:r>
              <a:rPr lang="en-US" sz="6750" spc="163">
                <a:solidFill>
                  <a:srgbClr val="0D0D0D"/>
                </a:solidFill>
                <a:latin typeface="Big Shoulders Display"/>
                <a:ea typeface="Big Shoulders Display"/>
                <a:cs typeface="Big Shoulders Display"/>
                <a:sym typeface="Big Shoulders Display"/>
              </a:rPr>
              <a:t>Libraries / Components / Web Services</a:t>
            </a:r>
          </a:p>
          <a:p>
            <a:pPr algn="l">
              <a:lnSpc>
                <a:spcPts val="6480"/>
              </a:lnSpc>
            </a:pPr>
          </a:p>
        </p:txBody>
      </p:sp>
      <p:sp>
        <p:nvSpPr>
          <p:cNvPr name="TextBox 7" id="7"/>
          <p:cNvSpPr txBox="true"/>
          <p:nvPr/>
        </p:nvSpPr>
        <p:spPr>
          <a:xfrm rot="0">
            <a:off x="1009448" y="2110187"/>
            <a:ext cx="17232833" cy="8131094"/>
          </a:xfrm>
          <a:prstGeom prst="rect">
            <a:avLst/>
          </a:prstGeom>
        </p:spPr>
        <p:txBody>
          <a:bodyPr anchor="t" rtlCol="false" tIns="0" lIns="0" bIns="0" rIns="0">
            <a:spAutoFit/>
          </a:bodyPr>
          <a:lstStyle/>
          <a:p>
            <a:pPr algn="l">
              <a:lnSpc>
                <a:spcPts val="3888"/>
              </a:lnSpc>
            </a:pPr>
            <a:r>
              <a:rPr lang="en-US" sz="3600" b="true">
                <a:solidFill>
                  <a:srgbClr val="000000"/>
                </a:solidFill>
                <a:latin typeface="Arimo Bold"/>
                <a:ea typeface="Arimo Bold"/>
                <a:cs typeface="Arimo Bold"/>
                <a:sym typeface="Arimo Bold"/>
              </a:rPr>
              <a:t>Libraries</a:t>
            </a:r>
            <a:r>
              <a:rPr lang="en-US" sz="3600">
                <a:solidFill>
                  <a:srgbClr val="000000"/>
                </a:solidFill>
                <a:latin typeface="Arimo"/>
                <a:ea typeface="Arimo"/>
                <a:cs typeface="Arimo"/>
                <a:sym typeface="Arimo"/>
              </a:rPr>
              <a:t>:</a:t>
            </a:r>
          </a:p>
          <a:p>
            <a:pPr algn="l">
              <a:lnSpc>
                <a:spcPts val="2916"/>
              </a:lnSpc>
            </a:pPr>
            <a:r>
              <a:rPr lang="en-US" sz="2700">
                <a:solidFill>
                  <a:srgbClr val="000000"/>
                </a:solidFill>
                <a:latin typeface="Arimo"/>
                <a:ea typeface="Arimo"/>
                <a:cs typeface="Arimo"/>
                <a:sym typeface="Arimo"/>
              </a:rPr>
              <a:t>      Additionally installed are librosa, soundile, sklearn, numpy, pickle.</a:t>
            </a:r>
          </a:p>
          <a:p>
            <a:pPr algn="l">
              <a:lnSpc>
                <a:spcPts val="3888"/>
              </a:lnSpc>
            </a:pPr>
            <a:r>
              <a:rPr lang="en-US" sz="3600" b="true">
                <a:solidFill>
                  <a:srgbClr val="000000"/>
                </a:solidFill>
                <a:latin typeface="Arimo Bold"/>
                <a:ea typeface="Arimo Bold"/>
                <a:cs typeface="Arimo Bold"/>
                <a:sym typeface="Arimo Bold"/>
              </a:rPr>
              <a:t>User Profile Management:</a:t>
            </a:r>
          </a:p>
          <a:p>
            <a:pPr algn="l" marL="680656" indent="-226885" lvl="2">
              <a:lnSpc>
                <a:spcPts val="2916"/>
              </a:lnSpc>
              <a:buFont typeface="Arial"/>
              <a:buChar char="⚬"/>
            </a:pPr>
            <a:r>
              <a:rPr lang="en-US" b="true" sz="2700">
                <a:solidFill>
                  <a:srgbClr val="000000"/>
                </a:solidFill>
                <a:latin typeface="Arimo Bold"/>
                <a:ea typeface="Arimo Bold"/>
                <a:cs typeface="Arimo Bold"/>
                <a:sym typeface="Arimo Bold"/>
              </a:rPr>
              <a:t>Component:</a:t>
            </a:r>
            <a:r>
              <a:rPr lang="en-US" sz="2700">
                <a:solidFill>
                  <a:srgbClr val="000000"/>
                </a:solidFill>
                <a:latin typeface="Arimo"/>
                <a:ea typeface="Arimo"/>
                <a:cs typeface="Arimo"/>
                <a:sym typeface="Arimo"/>
              </a:rPr>
              <a:t> Firebase Authentication</a:t>
            </a:r>
          </a:p>
          <a:p>
            <a:pPr algn="l" marL="680656" indent="-226885" lvl="2">
              <a:lnSpc>
                <a:spcPts val="2916"/>
              </a:lnSpc>
              <a:buFont typeface="Arial"/>
              <a:buChar char="⚬"/>
            </a:pPr>
            <a:r>
              <a:rPr lang="en-US" b="true" sz="2700">
                <a:solidFill>
                  <a:srgbClr val="000000"/>
                </a:solidFill>
                <a:latin typeface="Arimo Bold"/>
                <a:ea typeface="Arimo Bold"/>
                <a:cs typeface="Arimo Bold"/>
                <a:sym typeface="Arimo Bold"/>
              </a:rPr>
              <a:t>Purpose:</a:t>
            </a:r>
            <a:r>
              <a:rPr lang="en-US" sz="2700">
                <a:solidFill>
                  <a:srgbClr val="000000"/>
                </a:solidFill>
                <a:latin typeface="Arimo"/>
                <a:ea typeface="Arimo"/>
                <a:cs typeface="Arimo"/>
                <a:sym typeface="Arimo"/>
              </a:rPr>
              <a:t> Manages user authentication and maintains user profiles.</a:t>
            </a:r>
          </a:p>
          <a:p>
            <a:pPr algn="l" marL="831914" indent="-277304" lvl="2">
              <a:lnSpc>
                <a:spcPts val="3564"/>
              </a:lnSpc>
            </a:pPr>
            <a:r>
              <a:rPr lang="en-US" b="true" sz="3300">
                <a:solidFill>
                  <a:srgbClr val="000000"/>
                </a:solidFill>
                <a:latin typeface="Arimo Bold"/>
                <a:ea typeface="Arimo Bold"/>
                <a:cs typeface="Arimo Bold"/>
                <a:sym typeface="Arimo Bold"/>
              </a:rPr>
              <a:t>Database System:</a:t>
            </a:r>
          </a:p>
          <a:p>
            <a:pPr algn="l" marL="680656" indent="-226885" lvl="2">
              <a:lnSpc>
                <a:spcPts val="2916"/>
              </a:lnSpc>
              <a:buFont typeface="Arial"/>
              <a:buChar char="⚬"/>
            </a:pPr>
            <a:r>
              <a:rPr lang="en-US" b="true" sz="2700">
                <a:solidFill>
                  <a:srgbClr val="000000"/>
                </a:solidFill>
                <a:latin typeface="Arimo Bold"/>
                <a:ea typeface="Arimo Bold"/>
                <a:cs typeface="Arimo Bold"/>
                <a:sym typeface="Arimo Bold"/>
              </a:rPr>
              <a:t>Component:</a:t>
            </a:r>
            <a:r>
              <a:rPr lang="en-US" sz="2700">
                <a:solidFill>
                  <a:srgbClr val="000000"/>
                </a:solidFill>
                <a:latin typeface="Arimo"/>
                <a:ea typeface="Arimo"/>
                <a:cs typeface="Arimo"/>
                <a:sym typeface="Arimo"/>
              </a:rPr>
              <a:t> Firebase</a:t>
            </a:r>
          </a:p>
          <a:p>
            <a:pPr algn="l" marL="680656" indent="-226885" lvl="2">
              <a:lnSpc>
                <a:spcPts val="2916"/>
              </a:lnSpc>
              <a:buFont typeface="Arial"/>
              <a:buChar char="⚬"/>
            </a:pPr>
            <a:r>
              <a:rPr lang="en-US" b="true" sz="2700">
                <a:solidFill>
                  <a:srgbClr val="000000"/>
                </a:solidFill>
                <a:latin typeface="Arimo Bold"/>
                <a:ea typeface="Arimo Bold"/>
                <a:cs typeface="Arimo Bold"/>
                <a:sym typeface="Arimo Bold"/>
              </a:rPr>
              <a:t>Purpose:</a:t>
            </a:r>
            <a:r>
              <a:rPr lang="en-US" sz="2700">
                <a:solidFill>
                  <a:srgbClr val="000000"/>
                </a:solidFill>
                <a:latin typeface="Arimo"/>
                <a:ea typeface="Arimo"/>
                <a:cs typeface="Arimo"/>
                <a:sym typeface="Arimo"/>
              </a:rPr>
              <a:t> store user login information </a:t>
            </a:r>
          </a:p>
          <a:p>
            <a:pPr algn="l" marL="831914" indent="-277304" lvl="2">
              <a:lnSpc>
                <a:spcPts val="3564"/>
              </a:lnSpc>
            </a:pPr>
            <a:r>
              <a:rPr lang="en-US" b="true" sz="3300">
                <a:solidFill>
                  <a:srgbClr val="000000"/>
                </a:solidFill>
                <a:latin typeface="Arimo Bold"/>
                <a:ea typeface="Arimo Bold"/>
                <a:cs typeface="Arimo Bold"/>
                <a:sym typeface="Arimo Bold"/>
              </a:rPr>
              <a:t>Website Development Framework:</a:t>
            </a:r>
          </a:p>
          <a:p>
            <a:pPr algn="l" marL="680656" indent="-226885" lvl="2">
              <a:lnSpc>
                <a:spcPts val="2916"/>
              </a:lnSpc>
              <a:buFont typeface="Arial"/>
              <a:buChar char="⚬"/>
            </a:pPr>
            <a:r>
              <a:rPr lang="en-US" b="true" sz="2700">
                <a:solidFill>
                  <a:srgbClr val="000000"/>
                </a:solidFill>
                <a:latin typeface="Arimo Bold"/>
                <a:ea typeface="Arimo Bold"/>
                <a:cs typeface="Arimo Bold"/>
                <a:sym typeface="Arimo Bold"/>
              </a:rPr>
              <a:t>Framework:</a:t>
            </a:r>
            <a:r>
              <a:rPr lang="en-US" sz="2700">
                <a:solidFill>
                  <a:srgbClr val="000000"/>
                </a:solidFill>
                <a:latin typeface="Arimo"/>
                <a:ea typeface="Arimo"/>
                <a:cs typeface="Arimo"/>
                <a:sym typeface="Arimo"/>
              </a:rPr>
              <a:t> html, css, JavaScript </a:t>
            </a:r>
          </a:p>
          <a:p>
            <a:pPr algn="l" marL="680656" indent="-226885" lvl="2">
              <a:lnSpc>
                <a:spcPts val="2916"/>
              </a:lnSpc>
              <a:buFont typeface="Arial"/>
              <a:buChar char="⚬"/>
            </a:pPr>
            <a:r>
              <a:rPr lang="en-US" b="true" sz="2700">
                <a:solidFill>
                  <a:srgbClr val="000000"/>
                </a:solidFill>
                <a:latin typeface="Arimo Bold"/>
                <a:ea typeface="Arimo Bold"/>
                <a:cs typeface="Arimo Bold"/>
                <a:sym typeface="Arimo Bold"/>
              </a:rPr>
              <a:t>Purpose:</a:t>
            </a:r>
            <a:r>
              <a:rPr lang="en-US" sz="2700">
                <a:solidFill>
                  <a:srgbClr val="000000"/>
                </a:solidFill>
                <a:latin typeface="Arimo"/>
                <a:ea typeface="Arimo"/>
                <a:cs typeface="Arimo"/>
                <a:sym typeface="Arimo"/>
              </a:rPr>
              <a:t> Django is a high-level Python web framework designed to enable rapid development of secure and maintainable websites.</a:t>
            </a:r>
          </a:p>
          <a:p>
            <a:pPr algn="l" marL="680656" indent="-226885" lvl="2">
              <a:lnSpc>
                <a:spcPts val="2916"/>
              </a:lnSpc>
            </a:pPr>
          </a:p>
          <a:p>
            <a:pPr algn="l" marL="680656" indent="-226885" lvl="2">
              <a:lnSpc>
                <a:spcPts val="2916"/>
              </a:lnSpc>
            </a:pP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462102" y="198120"/>
            <a:ext cx="15363797" cy="2150425"/>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Challenges</a:t>
            </a:r>
          </a:p>
        </p:txBody>
      </p:sp>
      <p:sp>
        <p:nvSpPr>
          <p:cNvPr name="TextBox 7" id="7"/>
          <p:cNvSpPr txBox="true"/>
          <p:nvPr/>
        </p:nvSpPr>
        <p:spPr>
          <a:xfrm rot="0">
            <a:off x="1307592" y="2459035"/>
            <a:ext cx="14643876" cy="6677745"/>
          </a:xfrm>
          <a:prstGeom prst="rect">
            <a:avLst/>
          </a:prstGeom>
        </p:spPr>
        <p:txBody>
          <a:bodyPr anchor="t" rtlCol="false" tIns="0" lIns="0" bIns="0" rIns="0">
            <a:spAutoFit/>
          </a:bodyPr>
          <a:lstStyle/>
          <a:p>
            <a:pPr algn="l">
              <a:lnSpc>
                <a:spcPts val="3726"/>
              </a:lnSpc>
            </a:pPr>
            <a:r>
              <a:rPr lang="en-US" sz="3450" b="true">
                <a:solidFill>
                  <a:srgbClr val="000000"/>
                </a:solidFill>
                <a:latin typeface="Arimo Bold"/>
                <a:ea typeface="Arimo Bold"/>
                <a:cs typeface="Arimo Bold"/>
                <a:sym typeface="Arimo Bold"/>
              </a:rPr>
              <a:t>Accuracy of Emotion Recognition</a:t>
            </a:r>
            <a:r>
              <a:rPr lang="en-US" sz="3450">
                <a:solidFill>
                  <a:srgbClr val="000000"/>
                </a:solidFill>
                <a:latin typeface="Arimo"/>
                <a:ea typeface="Arimo"/>
                <a:cs typeface="Arimo"/>
                <a:sym typeface="Arimo"/>
              </a:rPr>
              <a:t>: </a:t>
            </a:r>
          </a:p>
          <a:p>
            <a:pPr algn="l" marL="707803" indent="-235934" lvl="2">
              <a:lnSpc>
                <a:spcPts val="3078"/>
              </a:lnSpc>
              <a:buFont typeface="Arial"/>
              <a:buChar char="⚬"/>
            </a:pPr>
            <a:r>
              <a:rPr lang="en-US" sz="2850">
                <a:solidFill>
                  <a:srgbClr val="000000"/>
                </a:solidFill>
                <a:latin typeface="Arimo"/>
                <a:ea typeface="Arimo"/>
                <a:cs typeface="Arimo"/>
                <a:sym typeface="Arimo"/>
              </a:rPr>
              <a:t>Ensuring precise identification and categorization of emotions </a:t>
            </a:r>
          </a:p>
          <a:p>
            <a:pPr algn="l" marL="856814" indent="-285605" lvl="2">
              <a:lnSpc>
                <a:spcPts val="3726"/>
              </a:lnSpc>
            </a:pPr>
            <a:r>
              <a:rPr lang="en-US" b="true" sz="3450">
                <a:solidFill>
                  <a:srgbClr val="000000"/>
                </a:solidFill>
                <a:latin typeface="Arimo Bold"/>
                <a:ea typeface="Arimo Bold"/>
                <a:cs typeface="Arimo Bold"/>
                <a:sym typeface="Arimo Bold"/>
              </a:rPr>
              <a:t>Ambiguity in Emotional Expression:</a:t>
            </a:r>
          </a:p>
          <a:p>
            <a:pPr algn="l" marL="707803" indent="-235934" lvl="2">
              <a:lnSpc>
                <a:spcPts val="3078"/>
              </a:lnSpc>
              <a:buFont typeface="Arial"/>
              <a:buChar char="⚬"/>
            </a:pPr>
            <a:r>
              <a:rPr lang="en-US" sz="2850">
                <a:solidFill>
                  <a:srgbClr val="000000"/>
                </a:solidFill>
                <a:latin typeface="Arimo"/>
                <a:ea typeface="Arimo"/>
                <a:cs typeface="Arimo"/>
                <a:sym typeface="Arimo"/>
              </a:rPr>
              <a:t>Emotions are complex </a:t>
            </a:r>
          </a:p>
          <a:p>
            <a:pPr algn="l" marL="856814" indent="-285605" lvl="2">
              <a:lnSpc>
                <a:spcPts val="3726"/>
              </a:lnSpc>
            </a:pPr>
            <a:r>
              <a:rPr lang="en-US" b="true" sz="3450">
                <a:solidFill>
                  <a:srgbClr val="000000"/>
                </a:solidFill>
                <a:latin typeface="Arimo Bold"/>
                <a:ea typeface="Arimo Bold"/>
                <a:cs typeface="Arimo Bold"/>
                <a:sym typeface="Arimo Bold"/>
              </a:rPr>
              <a:t>Cross-Modal Emotion Recognition:</a:t>
            </a:r>
            <a:r>
              <a:rPr lang="en-US" sz="3450">
                <a:solidFill>
                  <a:srgbClr val="000000"/>
                </a:solidFill>
                <a:latin typeface="Arimo"/>
                <a:ea typeface="Arimo"/>
                <a:cs typeface="Arimo"/>
                <a:sym typeface="Arimo"/>
              </a:rPr>
              <a:t> </a:t>
            </a:r>
          </a:p>
          <a:p>
            <a:pPr algn="l" marL="707803" indent="-235934" lvl="2">
              <a:lnSpc>
                <a:spcPts val="3078"/>
              </a:lnSpc>
              <a:buFont typeface="Arial"/>
              <a:buChar char="⚬"/>
            </a:pPr>
            <a:r>
              <a:rPr lang="en-US" sz="2850">
                <a:solidFill>
                  <a:srgbClr val="000000"/>
                </a:solidFill>
                <a:latin typeface="Arimo"/>
                <a:ea typeface="Arimo"/>
                <a:cs typeface="Arimo"/>
                <a:sym typeface="Arimo"/>
              </a:rPr>
              <a:t>Accurately recognizing emotions from voice inputs</a:t>
            </a:r>
          </a:p>
          <a:p>
            <a:pPr algn="l" marL="856814" indent="-285605" lvl="2">
              <a:lnSpc>
                <a:spcPts val="3726"/>
              </a:lnSpc>
            </a:pPr>
            <a:r>
              <a:rPr lang="en-US" b="true" sz="3450">
                <a:solidFill>
                  <a:srgbClr val="000000"/>
                </a:solidFill>
                <a:latin typeface="Arimo Bold"/>
                <a:ea typeface="Arimo Bold"/>
                <a:cs typeface="Arimo Bold"/>
                <a:sym typeface="Arimo Bold"/>
              </a:rPr>
              <a:t>User Acceptance and Trust:</a:t>
            </a:r>
            <a:r>
              <a:rPr lang="en-US" sz="3450">
                <a:solidFill>
                  <a:srgbClr val="000000"/>
                </a:solidFill>
                <a:latin typeface="Arimo"/>
                <a:ea typeface="Arimo"/>
                <a:cs typeface="Arimo"/>
                <a:sym typeface="Arimo"/>
              </a:rPr>
              <a:t> </a:t>
            </a:r>
          </a:p>
          <a:p>
            <a:pPr algn="l" marL="707803" indent="-235934" lvl="2">
              <a:lnSpc>
                <a:spcPts val="3078"/>
              </a:lnSpc>
              <a:buFont typeface="Arial"/>
              <a:buChar char="⚬"/>
            </a:pPr>
            <a:r>
              <a:rPr lang="en-US" sz="2850">
                <a:solidFill>
                  <a:srgbClr val="000000"/>
                </a:solidFill>
                <a:latin typeface="Arimo"/>
                <a:ea typeface="Arimo"/>
                <a:cs typeface="Arimo"/>
                <a:sym typeface="Arimo"/>
              </a:rPr>
              <a:t>Ensuring that users are comfortable and trust the AI with their emotional data</a:t>
            </a:r>
          </a:p>
          <a:p>
            <a:pPr algn="l" marL="856814" indent="-285605" lvl="2">
              <a:lnSpc>
                <a:spcPts val="3726"/>
              </a:lnSpc>
            </a:pPr>
            <a:r>
              <a:rPr lang="en-US" b="true" sz="3450">
                <a:solidFill>
                  <a:srgbClr val="000000"/>
                </a:solidFill>
                <a:latin typeface="Arimo Bold"/>
                <a:ea typeface="Arimo Bold"/>
                <a:cs typeface="Arimo Bold"/>
                <a:sym typeface="Arimo Bold"/>
              </a:rPr>
              <a:t>Continuous Learning and Adaptation:</a:t>
            </a:r>
            <a:r>
              <a:rPr lang="en-US" sz="3450">
                <a:solidFill>
                  <a:srgbClr val="000000"/>
                </a:solidFill>
                <a:latin typeface="Arimo"/>
                <a:ea typeface="Arimo"/>
                <a:cs typeface="Arimo"/>
                <a:sym typeface="Arimo"/>
              </a:rPr>
              <a:t> </a:t>
            </a:r>
          </a:p>
          <a:p>
            <a:pPr algn="l" marL="707803" indent="-235934" lvl="2">
              <a:lnSpc>
                <a:spcPts val="3078"/>
              </a:lnSpc>
              <a:buFont typeface="Arial"/>
              <a:buChar char="⚬"/>
            </a:pPr>
            <a:r>
              <a:rPr lang="en-US" sz="2850">
                <a:solidFill>
                  <a:srgbClr val="000000"/>
                </a:solidFill>
                <a:latin typeface="Arimo"/>
                <a:ea typeface="Arimo"/>
                <a:cs typeface="Arimo"/>
                <a:sym typeface="Arimo"/>
              </a:rPr>
              <a:t>The AI needs to continuously learn and adapt to evolving language nuances and emotional expressions.</a:t>
            </a:r>
          </a:p>
          <a:p>
            <a:pPr algn="l" marL="707803" indent="-235934" lvl="2">
              <a:lnSpc>
                <a:spcPts val="3078"/>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Freeform 6" id="6"/>
          <p:cNvSpPr/>
          <p:nvPr/>
        </p:nvSpPr>
        <p:spPr>
          <a:xfrm flipH="false" flipV="false" rot="0">
            <a:off x="1762237" y="2348545"/>
            <a:ext cx="8403736" cy="3631847"/>
          </a:xfrm>
          <a:custGeom>
            <a:avLst/>
            <a:gdLst/>
            <a:ahLst/>
            <a:cxnLst/>
            <a:rect r="r" b="b" t="t" l="l"/>
            <a:pathLst>
              <a:path h="3631847" w="8403736">
                <a:moveTo>
                  <a:pt x="0" y="0"/>
                </a:moveTo>
                <a:lnTo>
                  <a:pt x="8403737" y="0"/>
                </a:lnTo>
                <a:lnTo>
                  <a:pt x="8403737" y="3631848"/>
                </a:lnTo>
                <a:lnTo>
                  <a:pt x="0" y="3631848"/>
                </a:lnTo>
                <a:lnTo>
                  <a:pt x="0" y="0"/>
                </a:lnTo>
                <a:close/>
              </a:path>
            </a:pathLst>
          </a:custGeom>
          <a:blipFill>
            <a:blip r:embed="rId2"/>
            <a:stretch>
              <a:fillRect l="-15527" t="-35259" r="-15552" b="-257370"/>
            </a:stretch>
          </a:blipFill>
        </p:spPr>
      </p:sp>
      <p:sp>
        <p:nvSpPr>
          <p:cNvPr name="Freeform 7" id="7"/>
          <p:cNvSpPr/>
          <p:nvPr/>
        </p:nvSpPr>
        <p:spPr>
          <a:xfrm flipH="false" flipV="false" rot="0">
            <a:off x="8872778" y="6203840"/>
            <a:ext cx="8386522" cy="3692573"/>
          </a:xfrm>
          <a:custGeom>
            <a:avLst/>
            <a:gdLst/>
            <a:ahLst/>
            <a:cxnLst/>
            <a:rect r="r" b="b" t="t" l="l"/>
            <a:pathLst>
              <a:path h="3692573" w="8386522">
                <a:moveTo>
                  <a:pt x="0" y="0"/>
                </a:moveTo>
                <a:lnTo>
                  <a:pt x="8386522" y="0"/>
                </a:lnTo>
                <a:lnTo>
                  <a:pt x="8386522" y="3692574"/>
                </a:lnTo>
                <a:lnTo>
                  <a:pt x="0" y="3692574"/>
                </a:lnTo>
                <a:lnTo>
                  <a:pt x="0" y="0"/>
                </a:lnTo>
                <a:close/>
              </a:path>
            </a:pathLst>
          </a:custGeom>
          <a:blipFill>
            <a:blip r:embed="rId3"/>
            <a:stretch>
              <a:fillRect l="-16948" t="-36342" r="-17862" b="-259866"/>
            </a:stretch>
          </a:blipFill>
        </p:spPr>
      </p:sp>
      <p:sp>
        <p:nvSpPr>
          <p:cNvPr name="TextBox 8" id="8"/>
          <p:cNvSpPr txBox="true"/>
          <p:nvPr/>
        </p:nvSpPr>
        <p:spPr>
          <a:xfrm rot="0">
            <a:off x="1462102" y="198120"/>
            <a:ext cx="15363797" cy="2150425"/>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Prototype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Freeform 6" id="6"/>
          <p:cNvSpPr/>
          <p:nvPr/>
        </p:nvSpPr>
        <p:spPr>
          <a:xfrm flipH="false" flipV="false" rot="0">
            <a:off x="1157288" y="2029497"/>
            <a:ext cx="8767942" cy="3549825"/>
          </a:xfrm>
          <a:custGeom>
            <a:avLst/>
            <a:gdLst/>
            <a:ahLst/>
            <a:cxnLst/>
            <a:rect r="r" b="b" t="t" l="l"/>
            <a:pathLst>
              <a:path h="3549825" w="8767942">
                <a:moveTo>
                  <a:pt x="0" y="0"/>
                </a:moveTo>
                <a:lnTo>
                  <a:pt x="8767941" y="0"/>
                </a:lnTo>
                <a:lnTo>
                  <a:pt x="8767941" y="3549825"/>
                </a:lnTo>
                <a:lnTo>
                  <a:pt x="0" y="3549825"/>
                </a:lnTo>
                <a:lnTo>
                  <a:pt x="0" y="0"/>
                </a:lnTo>
                <a:close/>
              </a:path>
            </a:pathLst>
          </a:custGeom>
          <a:blipFill>
            <a:blip r:embed="rId2"/>
            <a:stretch>
              <a:fillRect l="-16149" t="-168004" r="-15545" b="-152920"/>
            </a:stretch>
          </a:blipFill>
        </p:spPr>
      </p:sp>
      <p:sp>
        <p:nvSpPr>
          <p:cNvPr name="Freeform 7" id="7"/>
          <p:cNvSpPr/>
          <p:nvPr/>
        </p:nvSpPr>
        <p:spPr>
          <a:xfrm flipH="false" flipV="false" rot="0">
            <a:off x="8525520" y="5785656"/>
            <a:ext cx="8874879" cy="3824372"/>
          </a:xfrm>
          <a:custGeom>
            <a:avLst/>
            <a:gdLst/>
            <a:ahLst/>
            <a:cxnLst/>
            <a:rect r="r" b="b" t="t" l="l"/>
            <a:pathLst>
              <a:path h="3824372" w="8874879">
                <a:moveTo>
                  <a:pt x="0" y="0"/>
                </a:moveTo>
                <a:lnTo>
                  <a:pt x="8874879" y="0"/>
                </a:lnTo>
                <a:lnTo>
                  <a:pt x="8874879" y="3824372"/>
                </a:lnTo>
                <a:lnTo>
                  <a:pt x="0" y="3824372"/>
                </a:lnTo>
                <a:lnTo>
                  <a:pt x="0" y="0"/>
                </a:lnTo>
                <a:close/>
              </a:path>
            </a:pathLst>
          </a:custGeom>
          <a:blipFill>
            <a:blip r:embed="rId3"/>
            <a:stretch>
              <a:fillRect l="-16915" t="-37563" r="-15616" b="-260420"/>
            </a:stretch>
          </a:blipFill>
        </p:spPr>
      </p:sp>
      <p:sp>
        <p:nvSpPr>
          <p:cNvPr name="TextBox 8" id="8"/>
          <p:cNvSpPr txBox="true"/>
          <p:nvPr/>
        </p:nvSpPr>
        <p:spPr>
          <a:xfrm rot="0">
            <a:off x="1389913" y="339885"/>
            <a:ext cx="15363797" cy="2150425"/>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Prototype</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5329851">
            <a:off x="442767" y="1915761"/>
            <a:ext cx="1400467" cy="0"/>
          </a:xfrm>
          <a:prstGeom prst="line">
            <a:avLst/>
          </a:prstGeom>
          <a:ln cap="rnd" w="19050">
            <a:solidFill>
              <a:srgbClr val="1CADE4"/>
            </a:solidFill>
            <a:prstDash val="solid"/>
            <a:headEnd type="none" len="sm" w="sm"/>
            <a:tailEnd type="none" len="sm" w="sm"/>
          </a:ln>
        </p:spPr>
      </p:sp>
      <p:grpSp>
        <p:nvGrpSpPr>
          <p:cNvPr name="Group 3" id="3"/>
          <p:cNvGrpSpPr/>
          <p:nvPr/>
        </p:nvGrpSpPr>
        <p:grpSpPr>
          <a:xfrm rot="0">
            <a:off x="384048" y="397764"/>
            <a:ext cx="17524574" cy="9498650"/>
            <a:chOff x="0" y="0"/>
            <a:chExt cx="23366098" cy="12664866"/>
          </a:xfrm>
        </p:grpSpPr>
        <p:sp>
          <p:nvSpPr>
            <p:cNvPr name="Freeform 4" id="4"/>
            <p:cNvSpPr/>
            <p:nvPr/>
          </p:nvSpPr>
          <p:spPr>
            <a:xfrm flipH="false" flipV="false" rot="0">
              <a:off x="0" y="0"/>
              <a:ext cx="23366095" cy="12664821"/>
            </a:xfrm>
            <a:custGeom>
              <a:avLst/>
              <a:gdLst/>
              <a:ahLst/>
              <a:cxnLst/>
              <a:rect r="r" b="b" t="t" l="l"/>
              <a:pathLst>
                <a:path h="12664821" w="23366095">
                  <a:moveTo>
                    <a:pt x="0" y="0"/>
                  </a:moveTo>
                  <a:lnTo>
                    <a:pt x="23366095" y="0"/>
                  </a:lnTo>
                  <a:lnTo>
                    <a:pt x="23366095" y="12664821"/>
                  </a:lnTo>
                  <a:lnTo>
                    <a:pt x="0" y="12664821"/>
                  </a:lnTo>
                  <a:close/>
                </a:path>
              </a:pathLst>
            </a:custGeom>
            <a:solidFill>
              <a:srgbClr val="F5F5F5"/>
            </a:solidFill>
          </p:spPr>
        </p:sp>
      </p:grpSp>
      <p:sp>
        <p:nvSpPr>
          <p:cNvPr name="AutoShape 5" id="5"/>
          <p:cNvSpPr/>
          <p:nvPr/>
        </p:nvSpPr>
        <p:spPr>
          <a:xfrm rot="7931">
            <a:off x="887579" y="1785063"/>
            <a:ext cx="16512842" cy="0"/>
          </a:xfrm>
          <a:prstGeom prst="line">
            <a:avLst/>
          </a:prstGeom>
          <a:ln cap="rnd" w="19050">
            <a:solidFill>
              <a:srgbClr val="008284"/>
            </a:solidFill>
            <a:prstDash val="solid"/>
            <a:headEnd type="none" len="sm" w="sm"/>
            <a:tailEnd type="none" len="sm" w="sm"/>
          </a:ln>
        </p:spPr>
      </p:sp>
      <p:sp>
        <p:nvSpPr>
          <p:cNvPr name="TextBox 6" id="6"/>
          <p:cNvSpPr txBox="true"/>
          <p:nvPr/>
        </p:nvSpPr>
        <p:spPr>
          <a:xfrm rot="0">
            <a:off x="1237809" y="426238"/>
            <a:ext cx="14397228" cy="2005584"/>
          </a:xfrm>
          <a:prstGeom prst="rect">
            <a:avLst/>
          </a:prstGeom>
        </p:spPr>
        <p:txBody>
          <a:bodyPr anchor="t" rtlCol="false" tIns="0" lIns="0" bIns="0" rIns="0">
            <a:spAutoFit/>
          </a:bodyPr>
          <a:lstStyle/>
          <a:p>
            <a:pPr algn="l">
              <a:lnSpc>
                <a:spcPts val="7200"/>
              </a:lnSpc>
            </a:pPr>
            <a:r>
              <a:rPr lang="en-US" sz="7500" spc="164">
                <a:solidFill>
                  <a:srgbClr val="0D0D0D"/>
                </a:solidFill>
                <a:latin typeface="Big Shoulders Display"/>
                <a:ea typeface="Big Shoulders Display"/>
                <a:cs typeface="Big Shoulders Display"/>
                <a:sym typeface="Big Shoulders Display"/>
              </a:rPr>
              <a:t> Report</a:t>
            </a:r>
          </a:p>
        </p:txBody>
      </p:sp>
      <p:sp>
        <p:nvSpPr>
          <p:cNvPr name="TextBox 7" id="7"/>
          <p:cNvSpPr txBox="true"/>
          <p:nvPr/>
        </p:nvSpPr>
        <p:spPr>
          <a:xfrm rot="0">
            <a:off x="1748168" y="2819226"/>
            <a:ext cx="14488670" cy="5934075"/>
          </a:xfrm>
          <a:prstGeom prst="rect">
            <a:avLst/>
          </a:prstGeom>
        </p:spPr>
        <p:txBody>
          <a:bodyPr anchor="t" rtlCol="false" tIns="0" lIns="0" bIns="0" rIns="0">
            <a:spAutoFit/>
          </a:bodyPr>
          <a:lstStyle/>
          <a:p>
            <a:pPr algn="l" marL="597217" indent="-298609" lvl="1">
              <a:lnSpc>
                <a:spcPts val="3564"/>
              </a:lnSpc>
              <a:buFont typeface="Arial"/>
              <a:buChar char="•"/>
            </a:pPr>
            <a:r>
              <a:rPr lang="en-US" b="true" sz="3300">
                <a:solidFill>
                  <a:srgbClr val="000000"/>
                </a:solidFill>
                <a:latin typeface="Arimo Bold"/>
                <a:ea typeface="Arimo Bold"/>
                <a:cs typeface="Arimo Bold"/>
                <a:sym typeface="Arimo Bold"/>
              </a:rPr>
              <a:t>Link to report:</a:t>
            </a:r>
          </a:p>
          <a:p>
            <a:pPr algn="l" marL="597217" indent="-298609" lvl="1">
              <a:lnSpc>
                <a:spcPts val="3564"/>
              </a:lnSpc>
              <a:buFont typeface="Arial"/>
              <a:buChar char="•"/>
            </a:pPr>
            <a:r>
              <a:rPr lang="en-US" sz="3300" u="sng">
                <a:solidFill>
                  <a:srgbClr val="134263"/>
                </a:solidFill>
                <a:latin typeface="Arimo"/>
                <a:ea typeface="Arimo"/>
                <a:cs typeface="Arimo"/>
                <a:sym typeface="Arimo"/>
              </a:rPr>
              <a:t>https://docs.google.com/document/d/1pJKENnk6DEr8_6U574GNeR1XaFA_EdCF/edit?usp=sharing&amp;ouid=108322800326463782905&amp;rtpof=true&amp;sd=true</a:t>
            </a:r>
          </a:p>
          <a:p>
            <a:pPr algn="l" marL="597217" indent="-298609" lvl="1">
              <a:lnSpc>
                <a:spcPts val="3564"/>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DAGZxWxRlCs</dc:identifier>
  <dcterms:modified xsi:type="dcterms:W3CDTF">2011-08-01T06:04:30Z</dcterms:modified>
  <cp:revision>1</cp:revision>
  <dc:title>FYP-BCSM-F23-037 (Presentation)-1.pptx</dc:title>
</cp:coreProperties>
</file>