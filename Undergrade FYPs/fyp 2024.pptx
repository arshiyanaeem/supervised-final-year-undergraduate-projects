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23"/>
  </p:notesMasterIdLst>
  <p:sldIdLst>
    <p:sldId id="544" r:id="rId2"/>
    <p:sldId id="514" r:id="rId3"/>
    <p:sldId id="543" r:id="rId4"/>
    <p:sldId id="563" r:id="rId5"/>
    <p:sldId id="554" r:id="rId6"/>
    <p:sldId id="559" r:id="rId7"/>
    <p:sldId id="529" r:id="rId8"/>
    <p:sldId id="515" r:id="rId9"/>
    <p:sldId id="518" r:id="rId10"/>
    <p:sldId id="557" r:id="rId11"/>
    <p:sldId id="565" r:id="rId12"/>
    <p:sldId id="558" r:id="rId13"/>
    <p:sldId id="566" r:id="rId14"/>
    <p:sldId id="567" r:id="rId15"/>
    <p:sldId id="568" r:id="rId16"/>
    <p:sldId id="572" r:id="rId17"/>
    <p:sldId id="569" r:id="rId18"/>
    <p:sldId id="570" r:id="rId19"/>
    <p:sldId id="571" r:id="rId20"/>
    <p:sldId id="564" r:id="rId21"/>
    <p:sldId id="56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2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82" autoAdjust="0"/>
    <p:restoredTop sz="82759" autoAdjust="0"/>
  </p:normalViewPr>
  <p:slideViewPr>
    <p:cSldViewPr snapToGrid="0">
      <p:cViewPr varScale="1">
        <p:scale>
          <a:sx n="46" d="100"/>
          <a:sy n="46" d="100"/>
        </p:scale>
        <p:origin x="1532" y="28"/>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A761FF-92E2-4234-80E7-FBCD75CC8193}" type="datetimeFigureOut">
              <a:rPr lang="en-US" smtClean="0"/>
              <a:t>11/28/2024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EEACC8-8594-4EF4-A2AA-C13BFE02B832}" type="slidenum">
              <a:rPr lang="en-US" smtClean="0"/>
              <a:t>‹#›</a:t>
            </a:fld>
            <a:endParaRPr lang="en-US"/>
          </a:p>
        </p:txBody>
      </p:sp>
    </p:spTree>
    <p:extLst>
      <p:ext uri="{BB962C8B-B14F-4D97-AF65-F5344CB8AC3E}">
        <p14:creationId xmlns:p14="http://schemas.microsoft.com/office/powerpoint/2010/main" val="3818491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universe.roboflow.com/namnhat/human_pink_eyes_virus-ecxhr"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s://universe.roboflow.com/eyeconjunctivadetector/eye-conjunctiva-detector"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EEACC8-8594-4EF4-A2AA-C13BFE02B832}" type="slidenum">
              <a:rPr lang="en-US" smtClean="0"/>
              <a:t>2</a:t>
            </a:fld>
            <a:endParaRPr lang="en-US"/>
          </a:p>
        </p:txBody>
      </p:sp>
    </p:spTree>
    <p:extLst>
      <p:ext uri="{BB962C8B-B14F-4D97-AF65-F5344CB8AC3E}">
        <p14:creationId xmlns:p14="http://schemas.microsoft.com/office/powerpoint/2010/main" val="741236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err="1"/>
              <a:t>Sindhuja</a:t>
            </a:r>
            <a:r>
              <a:rPr lang="en-US" dirty="0"/>
              <a:t>, K., </a:t>
            </a:r>
            <a:r>
              <a:rPr lang="en-US" dirty="0" err="1"/>
              <a:t>Lomi</a:t>
            </a:r>
            <a:r>
              <a:rPr lang="en-US" dirty="0"/>
              <a:t>, N., Asif, M. I., &amp; Tandon, R. (2020). Clinical profile and prevalence of conjunctivitis in mild COVID-19 patients in a tertiary care COVID-19 hospital</a:t>
            </a:r>
          </a:p>
          <a:p>
            <a:pPr marL="228600" indent="-228600">
              <a:buAutoNum type="arabicPeriod"/>
            </a:pPr>
            <a:r>
              <a:rPr lang="en-US" dirty="0" err="1"/>
              <a:t>Khairallah</a:t>
            </a:r>
            <a:r>
              <a:rPr lang="en-US" dirty="0"/>
              <a:t>, M., &amp; </a:t>
            </a:r>
            <a:r>
              <a:rPr lang="en-US" dirty="0" err="1"/>
              <a:t>Kahloun</a:t>
            </a:r>
            <a:r>
              <a:rPr lang="en-US" dirty="0"/>
              <a:t>, R. (2013). Ocular manifestations of emerging infectious diseases</a:t>
            </a:r>
          </a:p>
          <a:p>
            <a:pPr marL="228600" indent="-228600">
              <a:buAutoNum type="arabicPeriod"/>
            </a:pPr>
            <a:r>
              <a:rPr lang="en-US" dirty="0"/>
              <a:t>Pepose JS, Sarda SP, Cheng WY, McCormick N, Cheung HC, Bobbili P, Joseph C, Duh MS. Direct and Indirect Costs of Infectious Conjunctivitis in a Commercially Insured Population in the United States</a:t>
            </a:r>
          </a:p>
        </p:txBody>
      </p:sp>
      <p:sp>
        <p:nvSpPr>
          <p:cNvPr id="4" name="Slide Number Placeholder 3"/>
          <p:cNvSpPr>
            <a:spLocks noGrp="1"/>
          </p:cNvSpPr>
          <p:nvPr>
            <p:ph type="sldNum" sz="quarter" idx="5"/>
          </p:nvPr>
        </p:nvSpPr>
        <p:spPr/>
        <p:txBody>
          <a:bodyPr/>
          <a:lstStyle/>
          <a:p>
            <a:fld id="{CCEEACC8-8594-4EF4-A2AA-C13BFE02B832}" type="slidenum">
              <a:rPr lang="en-US" smtClean="0"/>
              <a:t>3</a:t>
            </a:fld>
            <a:endParaRPr lang="en-US"/>
          </a:p>
        </p:txBody>
      </p:sp>
    </p:spTree>
    <p:extLst>
      <p:ext uri="{BB962C8B-B14F-4D97-AF65-F5344CB8AC3E}">
        <p14:creationId xmlns:p14="http://schemas.microsoft.com/office/powerpoint/2010/main" val="2933669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err="1"/>
              <a:t>Sindhuja</a:t>
            </a:r>
            <a:r>
              <a:rPr lang="en-US" dirty="0"/>
              <a:t>, K., </a:t>
            </a:r>
            <a:r>
              <a:rPr lang="en-US" dirty="0" err="1"/>
              <a:t>Lomi</a:t>
            </a:r>
            <a:r>
              <a:rPr lang="en-US" dirty="0"/>
              <a:t>, N., Asif, M. I., &amp; Tandon, R. (2020). Clinical profile and prevalence of conjunctivitis in mild COVID-19 patients in a tertiary care COVID-19 hospital:</a:t>
            </a:r>
          </a:p>
          <a:p>
            <a:pPr marL="228600" indent="-228600">
              <a:buAutoNum type="arabicPeriod"/>
            </a:pPr>
            <a:r>
              <a:rPr lang="en-US" dirty="0"/>
              <a:t>Azari, A. A., &amp; Barney, N. P. (2013). Conjunctivitis: a systematic review of diagnosis and treatment.</a:t>
            </a:r>
          </a:p>
          <a:p>
            <a:pPr marL="228600" indent="-228600">
              <a:buAutoNum type="arabicPeriod"/>
            </a:pPr>
            <a:r>
              <a:rPr lang="en-US" dirty="0"/>
              <a:t>Sheikh A, Hurwitz B, van </a:t>
            </a:r>
            <a:r>
              <a:rPr lang="en-US" dirty="0" err="1"/>
              <a:t>Schayck</a:t>
            </a:r>
            <a:r>
              <a:rPr lang="en-US" dirty="0"/>
              <a:t> CP, McLean S, </a:t>
            </a:r>
            <a:r>
              <a:rPr lang="en-US" dirty="0" err="1"/>
              <a:t>Nurmatov</a:t>
            </a:r>
            <a:r>
              <a:rPr lang="en-US" dirty="0"/>
              <a:t> U. Antibiotics versus placebo for acute bacterial conjunctivitis. Cochrane Database Syst Rev. 2012</a:t>
            </a:r>
          </a:p>
          <a:p>
            <a:pPr marL="228600" indent="-228600">
              <a:buAutoNum type="arabicPeriod"/>
            </a:pPr>
            <a:r>
              <a:rPr lang="en-US" dirty="0" err="1"/>
              <a:t>Bielory</a:t>
            </a:r>
            <a:r>
              <a:rPr lang="en-US" dirty="0"/>
              <a:t> BP, O'Brien TP, </a:t>
            </a:r>
            <a:r>
              <a:rPr lang="en-US" dirty="0" err="1"/>
              <a:t>Bielory</a:t>
            </a:r>
            <a:r>
              <a:rPr lang="en-US" dirty="0"/>
              <a:t> L. Management of allergic conjunctivitis: Clinical aspects, pharmacology, and emerging therapies. Expert </a:t>
            </a:r>
            <a:r>
              <a:rPr lang="en-US" dirty="0" err="1"/>
              <a:t>Opin</a:t>
            </a:r>
            <a:r>
              <a:rPr lang="en-US" dirty="0"/>
              <a:t> </a:t>
            </a:r>
            <a:r>
              <a:rPr lang="en-US" dirty="0" err="1"/>
              <a:t>Pharmacother</a:t>
            </a:r>
            <a:r>
              <a:rPr lang="en-US" dirty="0"/>
              <a:t>. 2021 </a:t>
            </a:r>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CCEEACC8-8594-4EF4-A2AA-C13BFE02B832}" type="slidenum">
              <a:rPr lang="en-US" smtClean="0"/>
              <a:t>4</a:t>
            </a:fld>
            <a:endParaRPr lang="en-US"/>
          </a:p>
        </p:txBody>
      </p:sp>
    </p:spTree>
    <p:extLst>
      <p:ext uri="{BB962C8B-B14F-4D97-AF65-F5344CB8AC3E}">
        <p14:creationId xmlns:p14="http://schemas.microsoft.com/office/powerpoint/2010/main" val="1514770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err="1"/>
              <a:t>Tabuchi</a:t>
            </a:r>
            <a:r>
              <a:rPr lang="en-US" dirty="0"/>
              <a:t>, H., &amp; Masumoto, H. (2020). Objective evaluation of allergic conjunctival disease (with a focus on the application of artificial intelligence technology). Allergology International, 69(4), 505-509</a:t>
            </a:r>
          </a:p>
          <a:p>
            <a:pPr marL="228600" indent="-228600">
              <a:buAutoNum type="arabicPeriod" startAt="2"/>
            </a:pPr>
            <a:r>
              <a:rPr lang="en-US" dirty="0" err="1"/>
              <a:t>Bobade</a:t>
            </a:r>
            <a:r>
              <a:rPr lang="en-US" dirty="0"/>
              <a:t>, L., </a:t>
            </a:r>
            <a:r>
              <a:rPr lang="en-US" dirty="0" err="1"/>
              <a:t>Thote</a:t>
            </a:r>
            <a:r>
              <a:rPr lang="en-US" dirty="0"/>
              <a:t>, M., </a:t>
            </a:r>
            <a:r>
              <a:rPr lang="en-US" dirty="0" err="1"/>
              <a:t>Tabhane</a:t>
            </a:r>
            <a:r>
              <a:rPr lang="en-US" dirty="0"/>
              <a:t>, R., </a:t>
            </a:r>
            <a:r>
              <a:rPr lang="en-US" dirty="0" err="1"/>
              <a:t>Madke</a:t>
            </a:r>
            <a:r>
              <a:rPr lang="en-US" dirty="0"/>
              <a:t>, P., </a:t>
            </a:r>
            <a:r>
              <a:rPr lang="en-US" dirty="0" err="1"/>
              <a:t>Shrawankar</a:t>
            </a:r>
            <a:r>
              <a:rPr lang="en-US" dirty="0"/>
              <a:t>, M., &amp; </a:t>
            </a:r>
            <a:r>
              <a:rPr lang="en-US" dirty="0" err="1"/>
              <a:t>Sambhare</a:t>
            </a:r>
            <a:r>
              <a:rPr lang="en-US" dirty="0"/>
              <a:t>, P. EYE DISEASE IDENTIFICATION. </a:t>
            </a:r>
          </a:p>
          <a:p>
            <a:pPr marL="0" indent="0">
              <a:buNone/>
            </a:pPr>
            <a:r>
              <a:rPr lang="en-US" dirty="0"/>
              <a:t>3.   AKRAM, ASHRAFI and DEBNATH, RAMESWAR (2020) "An automated eye disease recognition system from visual content of facial images using machine learning techniques," Turkish Journal of Electrical Engineering and Computer Sciences: Vol. 28: No. 2, Article 23</a:t>
            </a:r>
          </a:p>
        </p:txBody>
      </p:sp>
      <p:sp>
        <p:nvSpPr>
          <p:cNvPr id="4" name="Slide Number Placeholder 3"/>
          <p:cNvSpPr>
            <a:spLocks noGrp="1"/>
          </p:cNvSpPr>
          <p:nvPr>
            <p:ph type="sldNum" sz="quarter" idx="5"/>
          </p:nvPr>
        </p:nvSpPr>
        <p:spPr/>
        <p:txBody>
          <a:bodyPr/>
          <a:lstStyle/>
          <a:p>
            <a:fld id="{CCEEACC8-8594-4EF4-A2AA-C13BFE02B832}" type="slidenum">
              <a:rPr lang="en-US" smtClean="0"/>
              <a:t>5</a:t>
            </a:fld>
            <a:endParaRPr lang="en-US"/>
          </a:p>
        </p:txBody>
      </p:sp>
    </p:spTree>
    <p:extLst>
      <p:ext uri="{BB962C8B-B14F-4D97-AF65-F5344CB8AC3E}">
        <p14:creationId xmlns:p14="http://schemas.microsoft.com/office/powerpoint/2010/main" val="2400601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Idrees, Muhammad </a:t>
            </a:r>
            <a:r>
              <a:rPr lang="en-US" dirty="0" err="1"/>
              <a:t>MBBSa</a:t>
            </a:r>
            <a:r>
              <a:rPr lang="en-US" dirty="0"/>
              <a:t>; Tariq, Waleed </a:t>
            </a:r>
            <a:r>
              <a:rPr lang="en-US" dirty="0" err="1"/>
              <a:t>MBBSb</a:t>
            </a:r>
            <a:r>
              <a:rPr lang="en-US" dirty="0"/>
              <a:t>; Jamil, </a:t>
            </a:r>
            <a:r>
              <a:rPr lang="en-US" dirty="0" err="1"/>
              <a:t>Hashaam</a:t>
            </a:r>
            <a:r>
              <a:rPr lang="en-US" dirty="0"/>
              <a:t> </a:t>
            </a:r>
            <a:r>
              <a:rPr lang="en-US" dirty="0" err="1"/>
              <a:t>MBBSc</a:t>
            </a:r>
            <a:r>
              <a:rPr lang="en-US" dirty="0"/>
              <a:t>; Yaqub, Aliza </a:t>
            </a:r>
            <a:r>
              <a:rPr lang="en-US" dirty="0" err="1"/>
              <a:t>MBBSe</a:t>
            </a:r>
            <a:r>
              <a:rPr lang="en-US" dirty="0"/>
              <a:t>; Tahir, Muhammad Junaid </a:t>
            </a:r>
            <a:r>
              <a:rPr lang="en-US" dirty="0" err="1"/>
              <a:t>MBBSd</a:t>
            </a:r>
            <a:r>
              <a:rPr lang="en-US" dirty="0"/>
              <a:t>; </a:t>
            </a:r>
            <a:r>
              <a:rPr lang="en-US" dirty="0" err="1"/>
              <a:t>Mahmmoud</a:t>
            </a:r>
            <a:r>
              <a:rPr lang="en-US" dirty="0"/>
              <a:t> </a:t>
            </a:r>
            <a:r>
              <a:rPr lang="en-US" dirty="0" err="1"/>
              <a:t>Fadelallah</a:t>
            </a:r>
            <a:r>
              <a:rPr lang="en-US" dirty="0"/>
              <a:t> </a:t>
            </a:r>
            <a:r>
              <a:rPr lang="en-US" dirty="0" err="1"/>
              <a:t>Eljack</a:t>
            </a:r>
            <a:r>
              <a:rPr lang="en-US" dirty="0"/>
              <a:t>, Mohammed </a:t>
            </a:r>
            <a:r>
              <a:rPr lang="en-US" dirty="0" err="1"/>
              <a:t>MBBSg</a:t>
            </a:r>
            <a:r>
              <a:rPr lang="en-US" dirty="0"/>
              <a:t>; Ahmed, Ali </a:t>
            </a:r>
            <a:r>
              <a:rPr lang="en-US" dirty="0" err="1"/>
              <a:t>PhDf</a:t>
            </a:r>
            <a:r>
              <a:rPr lang="en-US" dirty="0"/>
              <a:t>. Pakistan’s battle against adenoviral conjunctivitis and its economic implications. International Journal of Surgery:</a:t>
            </a:r>
          </a:p>
        </p:txBody>
      </p:sp>
      <p:sp>
        <p:nvSpPr>
          <p:cNvPr id="4" name="Slide Number Placeholder 3"/>
          <p:cNvSpPr>
            <a:spLocks noGrp="1"/>
          </p:cNvSpPr>
          <p:nvPr>
            <p:ph type="sldNum" sz="quarter" idx="5"/>
          </p:nvPr>
        </p:nvSpPr>
        <p:spPr/>
        <p:txBody>
          <a:bodyPr/>
          <a:lstStyle/>
          <a:p>
            <a:fld id="{CCEEACC8-8594-4EF4-A2AA-C13BFE02B832}" type="slidenum">
              <a:rPr lang="en-US" smtClean="0"/>
              <a:t>6</a:t>
            </a:fld>
            <a:endParaRPr lang="en-US"/>
          </a:p>
        </p:txBody>
      </p:sp>
    </p:spTree>
    <p:extLst>
      <p:ext uri="{BB962C8B-B14F-4D97-AF65-F5344CB8AC3E}">
        <p14:creationId xmlns:p14="http://schemas.microsoft.com/office/powerpoint/2010/main" val="310781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Soysa, A., &amp; De Silva, D. (2020). A mobile base application for cataract and conjunctivitis detection. In Proceedings of ICACT (pp. 76-78)</a:t>
            </a:r>
          </a:p>
          <a:p>
            <a:pPr marL="228600" indent="-228600">
              <a:buAutoNum type="arabicPeriod"/>
            </a:pPr>
            <a:r>
              <a:rPr lang="en-US" dirty="0"/>
              <a:t>Mondal, S., Banerjee, S., Mukherjee, S., Ganguly, A., &amp; Sengupta, D. (2022). Deep Classifier for Conjunctivitis–A Three-Fold Binary Approach</a:t>
            </a:r>
          </a:p>
          <a:p>
            <a:pPr marL="228600" indent="-228600">
              <a:buAutoNum type="arabicPeriod"/>
            </a:pPr>
            <a:r>
              <a:rPr lang="en-US" dirty="0"/>
              <a:t>M. Rivero-Palacio, W. Alfonso-Morales and E. </a:t>
            </a:r>
            <a:r>
              <a:rPr lang="en-US" dirty="0" err="1"/>
              <a:t>Caicedo</a:t>
            </a:r>
            <a:r>
              <a:rPr lang="en-US" dirty="0"/>
              <a:t>-Bravo, "Mobile Application for Anemia Detection through Ocular Conjunctiva Images," 2021 IEEE Colombian Research Conference on Applications of Computational Intelligence </a:t>
            </a:r>
          </a:p>
          <a:p>
            <a:pPr marL="228600" indent="-228600">
              <a:buAutoNum type="arabicPeriod"/>
            </a:pPr>
            <a:r>
              <a:rPr lang="en-US" dirty="0"/>
              <a:t>Rashid, F., Abate, J., &amp; Abdi, A. (2024). Multiclass Classification and Identification of the External Eye Diseases using Deep CNN. Indian Journal of Science and Technology, 17(12), 1107-1116</a:t>
            </a:r>
          </a:p>
          <a:p>
            <a:pPr marL="228600" indent="-228600">
              <a:buAutoNum type="arabicPeriod"/>
            </a:pPr>
            <a:r>
              <a:rPr lang="en-US" dirty="0" err="1"/>
              <a:t>Mekonnen</a:t>
            </a:r>
            <a:r>
              <a:rPr lang="en-US" dirty="0"/>
              <a:t>, S., &amp; Abebe, M. (2023). Cattle Pinkeye Disease Classification using Machine Learning. Ethiopian International Journal of Engineering and Technology, 1(2), 28-38.</a:t>
            </a:r>
          </a:p>
          <a:p>
            <a:pPr marL="228600" indent="-228600">
              <a:buAutoNum type="arabicPeriod"/>
            </a:pPr>
            <a:r>
              <a:rPr lang="en-US" dirty="0"/>
              <a:t>Prajna, N. V., Lalitha, P., Teja, G. V., Gunasekaran, R., Sharma, S. S., </a:t>
            </a:r>
            <a:r>
              <a:rPr lang="en-US" dirty="0" err="1"/>
              <a:t>Hinterwirth</a:t>
            </a:r>
            <a:r>
              <a:rPr lang="en-US" dirty="0"/>
              <a:t>, A., ... &amp; Doan, T. (2022).</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err="1"/>
              <a:t>Gunay</a:t>
            </a:r>
            <a:r>
              <a:rPr lang="en-US" dirty="0"/>
              <a:t>, M., </a:t>
            </a:r>
            <a:r>
              <a:rPr lang="en-US" dirty="0" err="1"/>
              <a:t>Goceri</a:t>
            </a:r>
            <a:r>
              <a:rPr lang="en-US" dirty="0"/>
              <a:t>, E., &amp; </a:t>
            </a:r>
            <a:r>
              <a:rPr lang="en-US" dirty="0" err="1"/>
              <a:t>Danisman</a:t>
            </a:r>
            <a:r>
              <a:rPr lang="en-US" dirty="0"/>
              <a:t>, T. (2015, December). Automated detection of adenoviral conjunctivitis disease from facial images using machine learning. In 2015 IEEE 14th International Conference on Machine Learning and Applications (ICMLA) (pp. 1204-1209). IEEE.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İbrahim, K. A. Y. A., &amp; ÇINAR, İ. (2024). Evaluation of Machine Learning and Deep Learning Approaches for Automatic Detection of Eye Diseases. Intelligent Methods In Engineering Sciences, 3(1), 37-45. </a:t>
            </a:r>
          </a:p>
          <a:p>
            <a:pPr marL="228600" indent="-228600">
              <a:buAutoNum type="arabicPeriod"/>
            </a:pPr>
            <a:r>
              <a:rPr lang="en-US" sz="1800" dirty="0">
                <a:solidFill>
                  <a:srgbClr val="000000"/>
                </a:solidFill>
                <a:effectLst/>
                <a:latin typeface="Times New Roman" panose="02020603050405020304" pitchFamily="18" charset="0"/>
                <a:ea typeface="Calibri" panose="020F0502020204030204" pitchFamily="34" charset="0"/>
              </a:rPr>
              <a:t>Mukherjee, P., Bhattacharyya, I., Mullick, M., Kumar, R., Roy, N. D., &amp; Mahmud, M. (2021, July). </a:t>
            </a:r>
            <a:r>
              <a:rPr lang="en-US" sz="1800" dirty="0" err="1">
                <a:solidFill>
                  <a:srgbClr val="000000"/>
                </a:solidFill>
                <a:effectLst/>
                <a:latin typeface="Times New Roman" panose="02020603050405020304" pitchFamily="18" charset="0"/>
                <a:ea typeface="Calibri" panose="020F0502020204030204" pitchFamily="34" charset="0"/>
              </a:rPr>
              <a:t>icondet</a:t>
            </a:r>
            <a:r>
              <a:rPr lang="en-US" sz="1800" dirty="0">
                <a:solidFill>
                  <a:srgbClr val="000000"/>
                </a:solidFill>
                <a:effectLst/>
                <a:latin typeface="Times New Roman" panose="02020603050405020304" pitchFamily="18" charset="0"/>
                <a:ea typeface="Calibri" panose="020F0502020204030204" pitchFamily="34" charset="0"/>
              </a:rPr>
              <a:t>: An intelligent portable healthcare app for the detection of conjunctivitis. </a:t>
            </a:r>
            <a:endParaRPr lang="en-US" dirty="0"/>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CCEEACC8-8594-4EF4-A2AA-C13BFE02B832}" type="slidenum">
              <a:rPr lang="en-US" smtClean="0"/>
              <a:t>7</a:t>
            </a:fld>
            <a:endParaRPr lang="en-US"/>
          </a:p>
        </p:txBody>
      </p:sp>
    </p:spTree>
    <p:extLst>
      <p:ext uri="{BB962C8B-B14F-4D97-AF65-F5344CB8AC3E}">
        <p14:creationId xmlns:p14="http://schemas.microsoft.com/office/powerpoint/2010/main" val="30962709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err="1"/>
              <a:t>Gunay</a:t>
            </a:r>
            <a:r>
              <a:rPr lang="en-US" dirty="0"/>
              <a:t>, M., </a:t>
            </a:r>
            <a:r>
              <a:rPr lang="en-US" dirty="0" err="1"/>
              <a:t>Goceri</a:t>
            </a:r>
            <a:r>
              <a:rPr lang="en-US" dirty="0"/>
              <a:t>, E., &amp; </a:t>
            </a:r>
            <a:r>
              <a:rPr lang="en-US" dirty="0" err="1"/>
              <a:t>Danisman</a:t>
            </a:r>
            <a:r>
              <a:rPr lang="en-US" dirty="0"/>
              <a:t>, T. (2015, December). Automated detection of adenoviral conjunctivitis disease from facial images using machine learning. In 2015 IEEE 14th International Conference on Machine Learning and Applications (ICMLA) (pp. 1204-1209). IEEE. </a:t>
            </a:r>
          </a:p>
          <a:p>
            <a:pPr marL="228600" indent="-228600">
              <a:buAutoNum type="arabicPeriod"/>
            </a:pPr>
            <a:r>
              <a:rPr lang="en-US" sz="1800" dirty="0">
                <a:solidFill>
                  <a:srgbClr val="000000"/>
                </a:solidFill>
                <a:effectLst/>
                <a:latin typeface="Times New Roman" panose="02020603050405020304" pitchFamily="18" charset="0"/>
                <a:ea typeface="Calibri" panose="020F0502020204030204" pitchFamily="34" charset="0"/>
              </a:rPr>
              <a:t>Mukherjee, P., Bhattacharyya, I., Mullick, M., Kumar, R., Roy, N. D., &amp; Mahmud, M. (2021, July). </a:t>
            </a:r>
            <a:r>
              <a:rPr lang="en-US" sz="1800" dirty="0" err="1">
                <a:solidFill>
                  <a:srgbClr val="000000"/>
                </a:solidFill>
                <a:effectLst/>
                <a:latin typeface="Times New Roman" panose="02020603050405020304" pitchFamily="18" charset="0"/>
                <a:ea typeface="Calibri" panose="020F0502020204030204" pitchFamily="34" charset="0"/>
              </a:rPr>
              <a:t>icondet</a:t>
            </a:r>
            <a:r>
              <a:rPr lang="en-US" sz="1800" dirty="0">
                <a:solidFill>
                  <a:srgbClr val="000000"/>
                </a:solidFill>
                <a:effectLst/>
                <a:latin typeface="Times New Roman" panose="02020603050405020304" pitchFamily="18" charset="0"/>
                <a:ea typeface="Calibri" panose="020F0502020204030204" pitchFamily="34" charset="0"/>
              </a:rPr>
              <a:t>: An intelligent portable healthcare app for the detection of conjunctivitis.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İbrahim, K. A. Y. A., &amp; ÇINAR, İ. (2024). Evaluation of Machine Learning and Deep Learning Approaches for Automatic Detection of Eye Diseases. Intelligent Methods In Engineering Sciences, 3(1), 37-45. </a:t>
            </a:r>
          </a:p>
        </p:txBody>
      </p:sp>
      <p:sp>
        <p:nvSpPr>
          <p:cNvPr id="4" name="Slide Number Placeholder 3"/>
          <p:cNvSpPr>
            <a:spLocks noGrp="1"/>
          </p:cNvSpPr>
          <p:nvPr>
            <p:ph type="sldNum" sz="quarter" idx="5"/>
          </p:nvPr>
        </p:nvSpPr>
        <p:spPr/>
        <p:txBody>
          <a:bodyPr/>
          <a:lstStyle/>
          <a:p>
            <a:fld id="{CCEEACC8-8594-4EF4-A2AA-C13BFE02B832}" type="slidenum">
              <a:rPr lang="en-US" smtClean="0"/>
              <a:t>8</a:t>
            </a:fld>
            <a:endParaRPr lang="en-US"/>
          </a:p>
        </p:txBody>
      </p:sp>
    </p:spTree>
    <p:extLst>
      <p:ext uri="{BB962C8B-B14F-4D97-AF65-F5344CB8AC3E}">
        <p14:creationId xmlns:p14="http://schemas.microsoft.com/office/powerpoint/2010/main" val="2019080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EEACC8-8594-4EF4-A2AA-C13BFE02B832}" type="slidenum">
              <a:rPr lang="en-US" smtClean="0"/>
              <a:t>10</a:t>
            </a:fld>
            <a:endParaRPr lang="en-US"/>
          </a:p>
        </p:txBody>
      </p:sp>
    </p:spTree>
    <p:extLst>
      <p:ext uri="{BB962C8B-B14F-4D97-AF65-F5344CB8AC3E}">
        <p14:creationId xmlns:p14="http://schemas.microsoft.com/office/powerpoint/2010/main" val="1225426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990B9-5835-AC04-3192-C204B2C2C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F3D30-6BA3-A5E4-684A-E132D5F50C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2F033-E6B2-94C9-89E5-30B78065539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71EF5DD-E511-C744-091E-4CF3FB86C2B6}"/>
              </a:ext>
            </a:extLst>
          </p:cNvPr>
          <p:cNvSpPr>
            <a:spLocks noGrp="1"/>
          </p:cNvSpPr>
          <p:nvPr>
            <p:ph type="sldNum" sz="quarter" idx="5"/>
          </p:nvPr>
        </p:nvSpPr>
        <p:spPr/>
        <p:txBody>
          <a:bodyPr/>
          <a:lstStyle/>
          <a:p>
            <a:fld id="{CCEEACC8-8594-4EF4-A2AA-C13BFE02B832}" type="slidenum">
              <a:rPr lang="en-US" smtClean="0"/>
              <a:t>11</a:t>
            </a:fld>
            <a:endParaRPr lang="en-US"/>
          </a:p>
        </p:txBody>
      </p:sp>
    </p:spTree>
    <p:extLst>
      <p:ext uri="{BB962C8B-B14F-4D97-AF65-F5344CB8AC3E}">
        <p14:creationId xmlns:p14="http://schemas.microsoft.com/office/powerpoint/2010/main" val="2827715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1. </a:t>
            </a:r>
            <a:r>
              <a:rPr lang="en-US" dirty="0" err="1">
                <a:hlinkClick r:id="rId3"/>
              </a:rPr>
              <a:t>human_pink_eyes_virus</a:t>
            </a:r>
            <a:r>
              <a:rPr lang="en-US" dirty="0">
                <a:hlinkClick r:id="rId3"/>
              </a:rPr>
              <a:t> Object Detection Dataset and Pre-Trained Model by </a:t>
            </a:r>
            <a:r>
              <a:rPr lang="en-US" dirty="0" err="1">
                <a:hlinkClick r:id="rId3"/>
              </a:rPr>
              <a:t>namnhat</a:t>
            </a:r>
            <a:r>
              <a:rPr lang="en-US" dirty="0">
                <a:hlinkClick r:id="rId3"/>
              </a:rPr>
              <a:t> (roboflow.com)</a:t>
            </a:r>
            <a:endParaRPr lang="en-US" dirty="0"/>
          </a:p>
          <a:p>
            <a:r>
              <a:rPr lang="en-US" dirty="0">
                <a:hlinkClick r:id="rId4"/>
              </a:rPr>
              <a:t>2. eye conjunctiva detector Dataset &gt; Overview (roboflow.com)</a:t>
            </a:r>
            <a:endParaRPr lang="en-US" dirty="0"/>
          </a:p>
          <a:p>
            <a:endParaRPr lang="en-US" dirty="0"/>
          </a:p>
          <a:p>
            <a:r>
              <a:rPr lang="en-US" dirty="0"/>
              <a:t>3. Zhang, R., Walshe, C., Liu, Z., Guan, L., Muller, K., </a:t>
            </a:r>
            <a:r>
              <a:rPr lang="en-US" dirty="0" err="1"/>
              <a:t>Whritner</a:t>
            </a:r>
            <a:r>
              <a:rPr lang="en-US" dirty="0"/>
              <a:t>, J., ... &amp; Ballard, D. (2020, April). Atari-head: Atari human eye-tracking and demonstration dataset. In Proceedings of the AAAI conference on artificial intelligence (Vol. 34, No. 04, pp. 6811-6820)</a:t>
            </a:r>
          </a:p>
          <a:p>
            <a:r>
              <a:rPr lang="en-US" dirty="0"/>
              <a:t>4. Guo, Y., Zhang, L., &amp; Liu, J. (2021). Conjunctivitis detection using convolutional neural networks. International Journal of Medical Informatics, 150, 104471.</a:t>
            </a:r>
          </a:p>
          <a:p>
            <a:r>
              <a:rPr lang="en-US" dirty="0"/>
              <a:t>5. Li, J., Zhang, Y., Wu, Q., Wang, D., &amp; Zhang, Q. (2021). A deep learning model for conjunctivitis recognition in clinical images. Journal of Medical Systems, 45(12), 1-9.</a:t>
            </a:r>
          </a:p>
        </p:txBody>
      </p:sp>
      <p:sp>
        <p:nvSpPr>
          <p:cNvPr id="4" name="Slide Number Placeholder 3"/>
          <p:cNvSpPr>
            <a:spLocks noGrp="1"/>
          </p:cNvSpPr>
          <p:nvPr>
            <p:ph type="sldNum" sz="quarter" idx="5"/>
          </p:nvPr>
        </p:nvSpPr>
        <p:spPr/>
        <p:txBody>
          <a:bodyPr/>
          <a:lstStyle/>
          <a:p>
            <a:fld id="{CCEEACC8-8594-4EF4-A2AA-C13BFE02B832}" type="slidenum">
              <a:rPr lang="en-US" smtClean="0"/>
              <a:t>12</a:t>
            </a:fld>
            <a:endParaRPr lang="en-US"/>
          </a:p>
        </p:txBody>
      </p:sp>
    </p:spTree>
    <p:extLst>
      <p:ext uri="{BB962C8B-B14F-4D97-AF65-F5344CB8AC3E}">
        <p14:creationId xmlns:p14="http://schemas.microsoft.com/office/powerpoint/2010/main" val="11844866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B076F-C4CD-A2ED-1FFE-736D087A44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058B18-E4F8-F194-0E2F-B8635E252D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8D5291-A8A6-E725-4EE8-CB2F1C0F956A}"/>
              </a:ext>
            </a:extLst>
          </p:cNvPr>
          <p:cNvSpPr>
            <a:spLocks noGrp="1"/>
          </p:cNvSpPr>
          <p:nvPr>
            <p:ph type="body" idx="1"/>
          </p:nvPr>
        </p:nvSpPr>
        <p:spPr/>
        <p:txBody>
          <a:bodyPr/>
          <a:lstStyle/>
          <a:p>
            <a:pPr marL="342900" lvl="0" indent="-342900" algn="just">
              <a:lnSpc>
                <a:spcPct val="150000"/>
              </a:lnSpc>
              <a:spcAft>
                <a:spcPts val="800"/>
              </a:spcAft>
              <a:buFont typeface="+mj-lt"/>
              <a:buAutoNum type="arabicPeriod"/>
            </a:pPr>
            <a:r>
              <a:rPr lang="en-US"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Mukherjee, P., Bhattacharyya, I., Mullick, M., Kumar, R., Roy, N. D., &amp; Mahmud, M. (2021, July). </a:t>
            </a:r>
            <a:r>
              <a:rPr lang="en-US"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i</a:t>
            </a:r>
            <a:r>
              <a:rPr lang="en-US"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t>
            </a:r>
            <a:r>
              <a:rPr lang="en-US"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condet</a:t>
            </a:r>
            <a:r>
              <a:rPr lang="en-US"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An intelligent portable healthcare app for the detection of conjunctivitis. In International Conference on Applied Intelligence and Informatics (pp. 29-42). Cham: Springer International Publishing.</a:t>
            </a:r>
          </a:p>
          <a:p>
            <a:pPr marL="342900" lvl="0" indent="-342900" algn="just">
              <a:lnSpc>
                <a:spcPct val="150000"/>
              </a:lnSpc>
              <a:spcAft>
                <a:spcPts val="800"/>
              </a:spcAft>
              <a:buFont typeface="+mj-lt"/>
              <a:buAutoNum type="arabicPeriod"/>
            </a:pP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FB2ADB-DC72-12C0-5A2B-EDA66C2FAA0F}"/>
              </a:ext>
            </a:extLst>
          </p:cNvPr>
          <p:cNvSpPr>
            <a:spLocks noGrp="1"/>
          </p:cNvSpPr>
          <p:nvPr>
            <p:ph type="sldNum" sz="quarter" idx="5"/>
          </p:nvPr>
        </p:nvSpPr>
        <p:spPr/>
        <p:txBody>
          <a:bodyPr/>
          <a:lstStyle/>
          <a:p>
            <a:fld id="{CCEEACC8-8594-4EF4-A2AA-C13BFE02B832}" type="slidenum">
              <a:rPr lang="en-US" smtClean="0"/>
              <a:t>13</a:t>
            </a:fld>
            <a:endParaRPr lang="en-US"/>
          </a:p>
        </p:txBody>
      </p:sp>
    </p:spTree>
    <p:extLst>
      <p:ext uri="{BB962C8B-B14F-4D97-AF65-F5344CB8AC3E}">
        <p14:creationId xmlns:p14="http://schemas.microsoft.com/office/powerpoint/2010/main" val="37535196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2089B-B444-3A0D-2E82-C664CFA19E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59FE77-8657-F966-FB6E-0E62A7B2A1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36578C-757D-2AC5-1162-2EE6954EC390}"/>
              </a:ext>
            </a:extLst>
          </p:cNvPr>
          <p:cNvSpPr>
            <a:spLocks noGrp="1"/>
          </p:cNvSpPr>
          <p:nvPr>
            <p:ph type="body" idx="1"/>
          </p:nvPr>
        </p:nvSpPr>
        <p:spPr/>
        <p:txBody>
          <a:bodyPr/>
          <a:lstStyle/>
          <a:p>
            <a:pPr marL="342900" lvl="0" indent="-342900" algn="just" rtl="0">
              <a:lnSpc>
                <a:spcPct val="150000"/>
              </a:lnSpc>
              <a:spcAft>
                <a:spcPts val="800"/>
              </a:spcAft>
              <a:buFont typeface="+mj-lt"/>
              <a:buAutoNum type="arabicPeriod"/>
            </a:pPr>
            <a:r>
              <a:rPr lang="en-US"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He, K., Zhang, X., Ren, S., &amp; Sun, J. (2016). Deep Residual Learning for Image Recognition. In Proceedings of the IEEE conference on computer vision and pattern recognition.</a:t>
            </a:r>
          </a:p>
          <a:p>
            <a:pPr marL="342900" marR="0" lvl="0" indent="-342900" algn="just" defTabSz="914400" rtl="0" eaLnBrk="1" fontAlgn="auto" latinLnBrk="0" hangingPunct="1">
              <a:lnSpc>
                <a:spcPct val="150000"/>
              </a:lnSpc>
              <a:spcBef>
                <a:spcPts val="0"/>
              </a:spcBef>
              <a:spcAft>
                <a:spcPts val="800"/>
              </a:spcAft>
              <a:buClrTx/>
              <a:buSzTx/>
              <a:buFont typeface="+mj-lt"/>
              <a:buAutoNum type="arabicPeriod"/>
              <a:tabLst/>
              <a:defRPr/>
            </a:pPr>
            <a:r>
              <a:rPr lang="en-US"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Simonyan, K., &amp; Zisserman, A. (2014). Very Deep Convolutional Networks for Large-Scale Image Recognition.</a:t>
            </a:r>
          </a:p>
          <a:p>
            <a:pPr marL="342900" marR="0" lvl="0" indent="-342900" algn="just" defTabSz="914400" rtl="0" eaLnBrk="1" fontAlgn="auto" latinLnBrk="0" hangingPunct="1">
              <a:lnSpc>
                <a:spcPct val="150000"/>
              </a:lnSpc>
              <a:spcBef>
                <a:spcPts val="0"/>
              </a:spcBef>
              <a:spcAft>
                <a:spcPts val="800"/>
              </a:spcAft>
              <a:buClrTx/>
              <a:buSzTx/>
              <a:buFont typeface="+mj-lt"/>
              <a:buAutoNum type="arabicPeriod"/>
              <a:tabLst/>
              <a:defRPr/>
            </a:pPr>
            <a:r>
              <a:rPr lang="en-US"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Bishop, C. M. (2006). Pattern Recognition and Machine Learning. Springer.</a:t>
            </a: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F27EFA-9D77-F57D-3176-9F1911A6D6D8}"/>
              </a:ext>
            </a:extLst>
          </p:cNvPr>
          <p:cNvSpPr>
            <a:spLocks noGrp="1"/>
          </p:cNvSpPr>
          <p:nvPr>
            <p:ph type="sldNum" sz="quarter" idx="5"/>
          </p:nvPr>
        </p:nvSpPr>
        <p:spPr/>
        <p:txBody>
          <a:bodyPr/>
          <a:lstStyle/>
          <a:p>
            <a:fld id="{CCEEACC8-8594-4EF4-A2AA-C13BFE02B832}" type="slidenum">
              <a:rPr lang="en-US" smtClean="0"/>
              <a:t>14</a:t>
            </a:fld>
            <a:endParaRPr lang="en-US"/>
          </a:p>
        </p:txBody>
      </p:sp>
    </p:spTree>
    <p:extLst>
      <p:ext uri="{BB962C8B-B14F-4D97-AF65-F5344CB8AC3E}">
        <p14:creationId xmlns:p14="http://schemas.microsoft.com/office/powerpoint/2010/main" val="12248684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7CFAE-4CD7-0CBE-3EF3-967A005BF8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7E0E74-674D-3558-B5EE-7F041EB048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49C4FE-6140-58F8-2D50-FAF10116DF2A}"/>
              </a:ext>
            </a:extLst>
          </p:cNvPr>
          <p:cNvSpPr>
            <a:spLocks noGrp="1"/>
          </p:cNvSpPr>
          <p:nvPr>
            <p:ph type="body" idx="1"/>
          </p:nvPr>
        </p:nvSpPr>
        <p:spPr/>
        <p:txBody>
          <a:bodyPr/>
          <a:lstStyle/>
          <a:p>
            <a:pPr marL="0" lvl="0" indent="0" algn="just" rtl="0">
              <a:lnSpc>
                <a:spcPct val="150000"/>
              </a:lnSpc>
              <a:spcAft>
                <a:spcPts val="800"/>
              </a:spcAft>
              <a:buFont typeface="+mj-lt"/>
              <a:buNone/>
            </a:pP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B5B1EC0-18FE-9114-FDE3-697466658EB2}"/>
              </a:ext>
            </a:extLst>
          </p:cNvPr>
          <p:cNvSpPr>
            <a:spLocks noGrp="1"/>
          </p:cNvSpPr>
          <p:nvPr>
            <p:ph type="sldNum" sz="quarter" idx="5"/>
          </p:nvPr>
        </p:nvSpPr>
        <p:spPr/>
        <p:txBody>
          <a:bodyPr/>
          <a:lstStyle/>
          <a:p>
            <a:fld id="{CCEEACC8-8594-4EF4-A2AA-C13BFE02B832}" type="slidenum">
              <a:rPr lang="en-US" smtClean="0"/>
              <a:t>15</a:t>
            </a:fld>
            <a:endParaRPr lang="en-US"/>
          </a:p>
        </p:txBody>
      </p:sp>
    </p:spTree>
    <p:extLst>
      <p:ext uri="{BB962C8B-B14F-4D97-AF65-F5344CB8AC3E}">
        <p14:creationId xmlns:p14="http://schemas.microsoft.com/office/powerpoint/2010/main" val="36230318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C1C26-9AE4-50A5-BA1A-4934244D6C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6D5D37-FC68-9DB4-3703-38D4FA89D4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12574E-31DF-ECE5-D884-F4E35EE90117}"/>
              </a:ext>
            </a:extLst>
          </p:cNvPr>
          <p:cNvSpPr>
            <a:spLocks noGrp="1"/>
          </p:cNvSpPr>
          <p:nvPr>
            <p:ph type="body" idx="1"/>
          </p:nvPr>
        </p:nvSpPr>
        <p:spPr/>
        <p:txBody>
          <a:bodyPr/>
          <a:lstStyle/>
          <a:p>
            <a:pPr marL="0" lvl="0" indent="0" algn="just" rtl="0">
              <a:lnSpc>
                <a:spcPct val="150000"/>
              </a:lnSpc>
              <a:spcAft>
                <a:spcPts val="800"/>
              </a:spcAft>
              <a:buFont typeface="+mj-lt"/>
              <a:buNone/>
            </a:pP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ADFD20-0723-4FBC-95E7-423C1D6FD6C6}"/>
              </a:ext>
            </a:extLst>
          </p:cNvPr>
          <p:cNvSpPr>
            <a:spLocks noGrp="1"/>
          </p:cNvSpPr>
          <p:nvPr>
            <p:ph type="sldNum" sz="quarter" idx="5"/>
          </p:nvPr>
        </p:nvSpPr>
        <p:spPr/>
        <p:txBody>
          <a:bodyPr/>
          <a:lstStyle/>
          <a:p>
            <a:fld id="{CCEEACC8-8594-4EF4-A2AA-C13BFE02B832}" type="slidenum">
              <a:rPr lang="en-US" smtClean="0"/>
              <a:t>16</a:t>
            </a:fld>
            <a:endParaRPr lang="en-US"/>
          </a:p>
        </p:txBody>
      </p:sp>
    </p:spTree>
    <p:extLst>
      <p:ext uri="{BB962C8B-B14F-4D97-AF65-F5344CB8AC3E}">
        <p14:creationId xmlns:p14="http://schemas.microsoft.com/office/powerpoint/2010/main" val="42095848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1CEDE-8037-12DA-9B1F-FAD92E7C39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7AAD81-EEC4-577A-7BBF-23AFD8B8FF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999AE8-D9EE-6C2F-B1D8-DCD886E4BF73}"/>
              </a:ext>
            </a:extLst>
          </p:cNvPr>
          <p:cNvSpPr>
            <a:spLocks noGrp="1"/>
          </p:cNvSpPr>
          <p:nvPr>
            <p:ph type="body" idx="1"/>
          </p:nvPr>
        </p:nvSpPr>
        <p:spPr/>
        <p:txBody>
          <a:bodyPr/>
          <a:lstStyle/>
          <a:p>
            <a:pPr marL="0" lvl="0" indent="0" algn="just" rtl="0">
              <a:lnSpc>
                <a:spcPct val="150000"/>
              </a:lnSpc>
              <a:spcAft>
                <a:spcPts val="800"/>
              </a:spcAft>
              <a:buFont typeface="+mj-lt"/>
              <a:buNone/>
            </a:pP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908CAA-D157-45A4-6631-68DF0EAB0CD6}"/>
              </a:ext>
            </a:extLst>
          </p:cNvPr>
          <p:cNvSpPr>
            <a:spLocks noGrp="1"/>
          </p:cNvSpPr>
          <p:nvPr>
            <p:ph type="sldNum" sz="quarter" idx="5"/>
          </p:nvPr>
        </p:nvSpPr>
        <p:spPr/>
        <p:txBody>
          <a:bodyPr/>
          <a:lstStyle/>
          <a:p>
            <a:fld id="{CCEEACC8-8594-4EF4-A2AA-C13BFE02B832}" type="slidenum">
              <a:rPr lang="en-US" smtClean="0"/>
              <a:t>17</a:t>
            </a:fld>
            <a:endParaRPr lang="en-US"/>
          </a:p>
        </p:txBody>
      </p:sp>
    </p:spTree>
    <p:extLst>
      <p:ext uri="{BB962C8B-B14F-4D97-AF65-F5344CB8AC3E}">
        <p14:creationId xmlns:p14="http://schemas.microsoft.com/office/powerpoint/2010/main" val="6829454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01E2C-AF2A-74AF-C3F9-1029606D9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6948E3-126A-FBA4-7AE1-B9F3F6462C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402B8B-160D-7090-D28B-5B2E4F7B7FF2}"/>
              </a:ext>
            </a:extLst>
          </p:cNvPr>
          <p:cNvSpPr>
            <a:spLocks noGrp="1"/>
          </p:cNvSpPr>
          <p:nvPr>
            <p:ph type="body" idx="1"/>
          </p:nvPr>
        </p:nvSpPr>
        <p:spPr/>
        <p:txBody>
          <a:bodyPr/>
          <a:lstStyle/>
          <a:p>
            <a:pPr marL="342900" marR="0" lvl="0" indent="-342900" algn="just" defTabSz="914400" rtl="0" eaLnBrk="1" fontAlgn="auto" latinLnBrk="0" hangingPunct="1">
              <a:lnSpc>
                <a:spcPct val="150000"/>
              </a:lnSpc>
              <a:spcBef>
                <a:spcPts val="0"/>
              </a:spcBef>
              <a:spcAft>
                <a:spcPts val="800"/>
              </a:spcAft>
              <a:buClrTx/>
              <a:buSzTx/>
              <a:buFont typeface="+mj-lt"/>
              <a:buAutoNum type="arabicPeriod"/>
              <a:tabLst/>
              <a:defRPr/>
            </a:pPr>
            <a:r>
              <a:rPr lang="en-US"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Ghani, F., Sattar, U., </a:t>
            </a:r>
            <a:r>
              <a:rPr lang="en-US"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Narmeen</a:t>
            </a:r>
            <a:r>
              <a:rPr lang="en-US"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M., Wazir Khan, H., &amp; Mehmood, A. (2021). A methodology for glaucoma disease detection using deep learning techniques. International Journal of Computing and Digital System.</a:t>
            </a: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Font typeface="+mj-lt"/>
              <a:buAutoNum type="arabicPeriod"/>
              <a:tabLst/>
              <a:defRPr/>
            </a:pPr>
            <a:r>
              <a:rPr lang="en-US"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Nagalaxmi</a:t>
            </a:r>
            <a:r>
              <a:rPr lang="en-US"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Nigudgi and Dr. Sridevi </a:t>
            </a:r>
            <a:r>
              <a:rPr lang="en-US" sz="1800" kern="100" dirty="0" err="1">
                <a:solidFill>
                  <a:srgbClr val="000000"/>
                </a:solidFill>
                <a:effectLst/>
                <a:latin typeface="Times New Roman" panose="02020603050405020304" pitchFamily="18" charset="0"/>
                <a:ea typeface="Calibri" panose="020F0502020204030204" pitchFamily="34" charset="0"/>
                <a:cs typeface="Arial" panose="020B0604020202020204" pitchFamily="34" charset="0"/>
              </a:rPr>
              <a:t>Hosmani</a:t>
            </a:r>
            <a:r>
              <a:rPr lang="en-US"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 " CONJUNCTIVITIS EYE DETECTION AND PERSONALIZED DRUG RECOMMENDATION SYSTEM USING CNN ", International Journal of Creative Research Thoughts (IJCRT), ISSN:2320-2882, Vol.11, Issue 8, pp.h92-h96, August 2023,</a:t>
            </a: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50000"/>
              </a:lnSpc>
              <a:spcBef>
                <a:spcPts val="0"/>
              </a:spcBef>
              <a:spcAft>
                <a:spcPts val="800"/>
              </a:spcAft>
              <a:buClrTx/>
              <a:buSzTx/>
              <a:buFont typeface="+mj-lt"/>
              <a:buAutoNum type="arabicPeriod"/>
              <a:tabLst/>
              <a:defRPr/>
            </a:pPr>
            <a:r>
              <a:rPr lang="en-US" sz="18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Soysa, A., &amp; De Silva, D. (2020). A mobile base application for cataract and conjunctivitis detection. In Proceedings of ICACT (pp. 76-78).</a:t>
            </a: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0">
              <a:lnSpc>
                <a:spcPct val="150000"/>
              </a:lnSpc>
              <a:spcAft>
                <a:spcPts val="800"/>
              </a:spcAft>
              <a:buFont typeface="+mj-lt"/>
              <a:buAutoNum type="arabicPeriod"/>
            </a:pPr>
            <a:r>
              <a:rPr lang="en-US" sz="1800" dirty="0">
                <a:solidFill>
                  <a:srgbClr val="000000"/>
                </a:solidFill>
                <a:effectLst/>
                <a:latin typeface="Times New Roman" panose="02020603050405020304" pitchFamily="18" charset="0"/>
                <a:ea typeface="Calibri" panose="020F0502020204030204" pitchFamily="34" charset="0"/>
              </a:rPr>
              <a:t>Mukherjee, P., Bhattacharyya, I., Mullick, M., Kumar, R., Roy, N. D., &amp; Mahmud, M. (2021, July). </a:t>
            </a:r>
            <a:r>
              <a:rPr lang="en-US" sz="1800" dirty="0" err="1">
                <a:solidFill>
                  <a:srgbClr val="000000"/>
                </a:solidFill>
                <a:effectLst/>
                <a:latin typeface="Times New Roman" panose="02020603050405020304" pitchFamily="18" charset="0"/>
                <a:ea typeface="Calibri" panose="020F0502020204030204" pitchFamily="34" charset="0"/>
              </a:rPr>
              <a:t>i</a:t>
            </a:r>
            <a:r>
              <a:rPr lang="en-US" sz="1800" dirty="0">
                <a:solidFill>
                  <a:srgbClr val="000000"/>
                </a:solidFill>
                <a:effectLst/>
                <a:latin typeface="Times New Roman" panose="02020603050405020304" pitchFamily="18" charset="0"/>
                <a:ea typeface="Calibri" panose="020F0502020204030204" pitchFamily="34" charset="0"/>
              </a:rPr>
              <a:t> </a:t>
            </a:r>
            <a:r>
              <a:rPr lang="en-US" sz="1800" dirty="0" err="1">
                <a:solidFill>
                  <a:srgbClr val="000000"/>
                </a:solidFill>
                <a:effectLst/>
                <a:latin typeface="Times New Roman" panose="02020603050405020304" pitchFamily="18" charset="0"/>
                <a:ea typeface="Calibri" panose="020F0502020204030204" pitchFamily="34" charset="0"/>
              </a:rPr>
              <a:t>condet</a:t>
            </a:r>
            <a:r>
              <a:rPr lang="en-US" sz="1800" dirty="0">
                <a:solidFill>
                  <a:srgbClr val="000000"/>
                </a:solidFill>
                <a:effectLst/>
                <a:latin typeface="Times New Roman" panose="02020603050405020304" pitchFamily="18" charset="0"/>
                <a:ea typeface="Calibri" panose="020F0502020204030204" pitchFamily="34" charset="0"/>
              </a:rPr>
              <a:t>: An intelligent portable healthcare app for the detection of conjunctivitis</a:t>
            </a: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CBC40CF-A634-5998-D64E-14D4C425D7F7}"/>
              </a:ext>
            </a:extLst>
          </p:cNvPr>
          <p:cNvSpPr>
            <a:spLocks noGrp="1"/>
          </p:cNvSpPr>
          <p:nvPr>
            <p:ph type="sldNum" sz="quarter" idx="5"/>
          </p:nvPr>
        </p:nvSpPr>
        <p:spPr/>
        <p:txBody>
          <a:bodyPr/>
          <a:lstStyle/>
          <a:p>
            <a:fld id="{CCEEACC8-8594-4EF4-A2AA-C13BFE02B832}" type="slidenum">
              <a:rPr lang="en-US" smtClean="0"/>
              <a:t>18</a:t>
            </a:fld>
            <a:endParaRPr lang="en-US"/>
          </a:p>
        </p:txBody>
      </p:sp>
    </p:spTree>
    <p:extLst>
      <p:ext uri="{BB962C8B-B14F-4D97-AF65-F5344CB8AC3E}">
        <p14:creationId xmlns:p14="http://schemas.microsoft.com/office/powerpoint/2010/main" val="36199518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9D809-7A39-64F3-AC3C-FDFAC6DE4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268CB-E910-4E9B-099A-C86244D4AD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C93EA6-7395-1E98-8A70-61C68BA829DD}"/>
              </a:ext>
            </a:extLst>
          </p:cNvPr>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800"/>
              </a:spcAft>
              <a:buClrTx/>
              <a:buSzTx/>
              <a:buFont typeface="+mj-lt"/>
              <a:buNone/>
              <a:tabLst/>
              <a:defRPr/>
            </a:pPr>
            <a:endParaRPr lang="en-GB"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2A07411-2276-7041-2F2D-1597BBDDBAF2}"/>
              </a:ext>
            </a:extLst>
          </p:cNvPr>
          <p:cNvSpPr>
            <a:spLocks noGrp="1"/>
          </p:cNvSpPr>
          <p:nvPr>
            <p:ph type="sldNum" sz="quarter" idx="5"/>
          </p:nvPr>
        </p:nvSpPr>
        <p:spPr/>
        <p:txBody>
          <a:bodyPr/>
          <a:lstStyle/>
          <a:p>
            <a:fld id="{CCEEACC8-8594-4EF4-A2AA-C13BFE02B832}" type="slidenum">
              <a:rPr lang="en-US" smtClean="0"/>
              <a:t>19</a:t>
            </a:fld>
            <a:endParaRPr lang="en-US"/>
          </a:p>
        </p:txBody>
      </p:sp>
    </p:spTree>
    <p:extLst>
      <p:ext uri="{BB962C8B-B14F-4D97-AF65-F5344CB8AC3E}">
        <p14:creationId xmlns:p14="http://schemas.microsoft.com/office/powerpoint/2010/main" val="12246654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EEACC8-8594-4EF4-A2AA-C13BFE02B832}" type="slidenum">
              <a:rPr lang="en-US" smtClean="0"/>
              <a:t>20</a:t>
            </a:fld>
            <a:endParaRPr lang="en-US"/>
          </a:p>
        </p:txBody>
      </p:sp>
    </p:spTree>
    <p:extLst>
      <p:ext uri="{BB962C8B-B14F-4D97-AF65-F5344CB8AC3E}">
        <p14:creationId xmlns:p14="http://schemas.microsoft.com/office/powerpoint/2010/main" val="20630791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640D9-985B-D901-7778-2E229F2B83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5379294-3F6E-AE44-597B-CA5065453B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4866B2-84D3-891C-5FE6-CED1BAF4B26A}"/>
              </a:ext>
            </a:extLst>
          </p:cNvPr>
          <p:cNvSpPr>
            <a:spLocks noGrp="1"/>
          </p:cNvSpPr>
          <p:nvPr>
            <p:ph type="dt" sz="half" idx="10"/>
          </p:nvPr>
        </p:nvSpPr>
        <p:spPr/>
        <p:txBody>
          <a:bodyPr/>
          <a:lstStyle/>
          <a:p>
            <a:fld id="{E2FC9351-6833-4ACA-9B0E-1AFDFBD3FC6C}" type="datetimeFigureOut">
              <a:rPr lang="en-US" smtClean="0"/>
              <a:t>11/28/2024</a:t>
            </a:fld>
            <a:endParaRPr lang="en-US"/>
          </a:p>
        </p:txBody>
      </p:sp>
      <p:sp>
        <p:nvSpPr>
          <p:cNvPr id="5" name="Footer Placeholder 4">
            <a:extLst>
              <a:ext uri="{FF2B5EF4-FFF2-40B4-BE49-F238E27FC236}">
                <a16:creationId xmlns:a16="http://schemas.microsoft.com/office/drawing/2014/main" id="{3D64775D-4EE2-B023-CD0D-6242C61405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959F5C-4053-CEC5-B12B-5D1D19AB8C78}"/>
              </a:ext>
            </a:extLst>
          </p:cNvPr>
          <p:cNvSpPr>
            <a:spLocks noGrp="1"/>
          </p:cNvSpPr>
          <p:nvPr>
            <p:ph type="sldNum" sz="quarter" idx="12"/>
          </p:nvPr>
        </p:nvSpPr>
        <p:spPr/>
        <p:txBody>
          <a:bodyPr/>
          <a:lstStyle/>
          <a:p>
            <a:fld id="{CF9D6553-B421-4DB6-AAE8-4917336B08FE}" type="slidenum">
              <a:rPr lang="en-US" smtClean="0"/>
              <a:t>‹#›</a:t>
            </a:fld>
            <a:endParaRPr lang="en-US"/>
          </a:p>
        </p:txBody>
      </p:sp>
      <p:sp>
        <p:nvSpPr>
          <p:cNvPr id="7" name="Rectangle 6">
            <a:extLst>
              <a:ext uri="{FF2B5EF4-FFF2-40B4-BE49-F238E27FC236}">
                <a16:creationId xmlns:a16="http://schemas.microsoft.com/office/drawing/2014/main" id="{EE96718A-D0B1-8ABC-A99B-2638919C4610}"/>
              </a:ext>
            </a:extLst>
          </p:cNvPr>
          <p:cNvSpPr/>
          <p:nvPr userDrawn="1"/>
        </p:nvSpPr>
        <p:spPr bwMode="blackWhite">
          <a:xfrm>
            <a:off x="254950" y="262784"/>
            <a:ext cx="11682101" cy="6332433"/>
          </a:xfrm>
          <a:prstGeom prst="rect">
            <a:avLst/>
          </a:prstGeom>
          <a:solidFill>
            <a:srgbClr val="0082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8" name="Picture 7">
            <a:extLst>
              <a:ext uri="{FF2B5EF4-FFF2-40B4-BE49-F238E27FC236}">
                <a16:creationId xmlns:a16="http://schemas.microsoft.com/office/drawing/2014/main" id="{BE61C733-6C8B-F26F-E206-5A89442DBA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5933" y="629754"/>
            <a:ext cx="1900127" cy="1914757"/>
          </a:xfrm>
          <a:prstGeom prst="rect">
            <a:avLst/>
          </a:prstGeom>
        </p:spPr>
      </p:pic>
    </p:spTree>
    <p:extLst>
      <p:ext uri="{BB962C8B-B14F-4D97-AF65-F5344CB8AC3E}">
        <p14:creationId xmlns:p14="http://schemas.microsoft.com/office/powerpoint/2010/main" val="2790339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4CC9A-8256-F25E-7F0C-FA3CE500CC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CC4671-00D3-064E-060D-0022CD4428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D99C15-63C1-3375-8BA3-1DE618F338D6}"/>
              </a:ext>
            </a:extLst>
          </p:cNvPr>
          <p:cNvSpPr>
            <a:spLocks noGrp="1"/>
          </p:cNvSpPr>
          <p:nvPr>
            <p:ph type="dt" sz="half" idx="10"/>
          </p:nvPr>
        </p:nvSpPr>
        <p:spPr/>
        <p:txBody>
          <a:bodyPr/>
          <a:lstStyle/>
          <a:p>
            <a:fld id="{E2FC9351-6833-4ACA-9B0E-1AFDFBD3FC6C}" type="datetimeFigureOut">
              <a:rPr lang="en-US" smtClean="0"/>
              <a:t>11/28/2024</a:t>
            </a:fld>
            <a:endParaRPr lang="en-US"/>
          </a:p>
        </p:txBody>
      </p:sp>
      <p:sp>
        <p:nvSpPr>
          <p:cNvPr id="5" name="Footer Placeholder 4">
            <a:extLst>
              <a:ext uri="{FF2B5EF4-FFF2-40B4-BE49-F238E27FC236}">
                <a16:creationId xmlns:a16="http://schemas.microsoft.com/office/drawing/2014/main" id="{031A8870-5F47-783F-EBB7-015237264C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CB8075-6DD3-1C04-1F7A-70D47746F304}"/>
              </a:ext>
            </a:extLst>
          </p:cNvPr>
          <p:cNvSpPr>
            <a:spLocks noGrp="1"/>
          </p:cNvSpPr>
          <p:nvPr>
            <p:ph type="sldNum" sz="quarter" idx="12"/>
          </p:nvPr>
        </p:nvSpPr>
        <p:spPr/>
        <p:txBody>
          <a:bodyPr/>
          <a:lstStyle/>
          <a:p>
            <a:fld id="{CF9D6553-B421-4DB6-AAE8-4917336B08FE}" type="slidenum">
              <a:rPr lang="en-US" smtClean="0"/>
              <a:t>‹#›</a:t>
            </a:fld>
            <a:endParaRPr lang="en-US"/>
          </a:p>
        </p:txBody>
      </p:sp>
    </p:spTree>
    <p:extLst>
      <p:ext uri="{BB962C8B-B14F-4D97-AF65-F5344CB8AC3E}">
        <p14:creationId xmlns:p14="http://schemas.microsoft.com/office/powerpoint/2010/main" val="2387908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70685-9DC6-A647-6C98-BF2B57CDDB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AFAA96-B6CF-65F3-8E82-B8C2C291CE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DD5364-D86F-D62F-3CFD-C15E3B704AF5}"/>
              </a:ext>
            </a:extLst>
          </p:cNvPr>
          <p:cNvSpPr>
            <a:spLocks noGrp="1"/>
          </p:cNvSpPr>
          <p:nvPr>
            <p:ph type="dt" sz="half" idx="10"/>
          </p:nvPr>
        </p:nvSpPr>
        <p:spPr/>
        <p:txBody>
          <a:bodyPr/>
          <a:lstStyle/>
          <a:p>
            <a:fld id="{E2FC9351-6833-4ACA-9B0E-1AFDFBD3FC6C}" type="datetimeFigureOut">
              <a:rPr lang="en-US" smtClean="0"/>
              <a:t>11/28/2024</a:t>
            </a:fld>
            <a:endParaRPr lang="en-US"/>
          </a:p>
        </p:txBody>
      </p:sp>
      <p:sp>
        <p:nvSpPr>
          <p:cNvPr id="5" name="Footer Placeholder 4">
            <a:extLst>
              <a:ext uri="{FF2B5EF4-FFF2-40B4-BE49-F238E27FC236}">
                <a16:creationId xmlns:a16="http://schemas.microsoft.com/office/drawing/2014/main" id="{AE7D61B3-9601-6FAE-CA54-BB7CF3928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9FAAF6-61F5-86C4-3C31-A546FFAC5D3B}"/>
              </a:ext>
            </a:extLst>
          </p:cNvPr>
          <p:cNvSpPr>
            <a:spLocks noGrp="1"/>
          </p:cNvSpPr>
          <p:nvPr>
            <p:ph type="sldNum" sz="quarter" idx="12"/>
          </p:nvPr>
        </p:nvSpPr>
        <p:spPr/>
        <p:txBody>
          <a:bodyPr/>
          <a:lstStyle/>
          <a:p>
            <a:fld id="{CF9D6553-B421-4DB6-AAE8-4917336B08FE}" type="slidenum">
              <a:rPr lang="en-US" smtClean="0"/>
              <a:t>‹#›</a:t>
            </a:fld>
            <a:endParaRPr lang="en-US"/>
          </a:p>
        </p:txBody>
      </p:sp>
      <p:sp>
        <p:nvSpPr>
          <p:cNvPr id="7" name="Rectangle 6">
            <a:extLst>
              <a:ext uri="{FF2B5EF4-FFF2-40B4-BE49-F238E27FC236}">
                <a16:creationId xmlns:a16="http://schemas.microsoft.com/office/drawing/2014/main" id="{EB7AA8BC-34BE-91C9-0A56-4734314FD16A}"/>
              </a:ext>
            </a:extLst>
          </p:cNvPr>
          <p:cNvSpPr/>
          <p:nvPr userDrawn="1"/>
        </p:nvSpPr>
        <p:spPr bwMode="blackWhite">
          <a:xfrm>
            <a:off x="600891" y="1306286"/>
            <a:ext cx="10985862" cy="4336869"/>
          </a:xfrm>
          <a:prstGeom prst="rect">
            <a:avLst/>
          </a:prstGeom>
          <a:solidFill>
            <a:srgbClr val="0082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a:extLst>
              <a:ext uri="{FF2B5EF4-FFF2-40B4-BE49-F238E27FC236}">
                <a16:creationId xmlns:a16="http://schemas.microsoft.com/office/drawing/2014/main" id="{A81B25D8-02E9-E610-116F-6FE356B483F1}"/>
              </a:ext>
            </a:extLst>
          </p:cNvPr>
          <p:cNvCxnSpPr/>
          <p:nvPr userDrawn="1"/>
        </p:nvCxnSpPr>
        <p:spPr>
          <a:xfrm>
            <a:off x="604434" y="5742281"/>
            <a:ext cx="10983132" cy="0"/>
          </a:xfrm>
          <a:prstGeom prst="line">
            <a:avLst/>
          </a:prstGeom>
          <a:ln w="25400">
            <a:solidFill>
              <a:srgbClr val="00828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2624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75737-775C-921B-D177-5D59F6BBD4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2AA788-9D21-64A8-391C-4D2D25A62E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9C966FD-2BA2-06A4-5D6E-7D20EA1A0E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DD7F6F-C15F-ABBC-9714-0D6EE48A0F62}"/>
              </a:ext>
            </a:extLst>
          </p:cNvPr>
          <p:cNvSpPr>
            <a:spLocks noGrp="1"/>
          </p:cNvSpPr>
          <p:nvPr>
            <p:ph type="dt" sz="half" idx="10"/>
          </p:nvPr>
        </p:nvSpPr>
        <p:spPr/>
        <p:txBody>
          <a:bodyPr/>
          <a:lstStyle/>
          <a:p>
            <a:fld id="{E2FC9351-6833-4ACA-9B0E-1AFDFBD3FC6C}" type="datetimeFigureOut">
              <a:rPr lang="en-US" smtClean="0"/>
              <a:t>11/28/2024</a:t>
            </a:fld>
            <a:endParaRPr lang="en-US"/>
          </a:p>
        </p:txBody>
      </p:sp>
      <p:sp>
        <p:nvSpPr>
          <p:cNvPr id="6" name="Footer Placeholder 5">
            <a:extLst>
              <a:ext uri="{FF2B5EF4-FFF2-40B4-BE49-F238E27FC236}">
                <a16:creationId xmlns:a16="http://schemas.microsoft.com/office/drawing/2014/main" id="{02EA88D7-02A5-792B-AAD3-F1469978CD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7A40B4-BCBD-58A6-85FE-70D9476F1E85}"/>
              </a:ext>
            </a:extLst>
          </p:cNvPr>
          <p:cNvSpPr>
            <a:spLocks noGrp="1"/>
          </p:cNvSpPr>
          <p:nvPr>
            <p:ph type="sldNum" sz="quarter" idx="12"/>
          </p:nvPr>
        </p:nvSpPr>
        <p:spPr/>
        <p:txBody>
          <a:bodyPr/>
          <a:lstStyle/>
          <a:p>
            <a:fld id="{CF9D6553-B421-4DB6-AAE8-4917336B08FE}" type="slidenum">
              <a:rPr lang="en-US" smtClean="0"/>
              <a:t>‹#›</a:t>
            </a:fld>
            <a:endParaRPr lang="en-US"/>
          </a:p>
        </p:txBody>
      </p:sp>
    </p:spTree>
    <p:extLst>
      <p:ext uri="{BB962C8B-B14F-4D97-AF65-F5344CB8AC3E}">
        <p14:creationId xmlns:p14="http://schemas.microsoft.com/office/powerpoint/2010/main" val="1645291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C0D1A-BA9B-FFE1-FE66-FD003D66DB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1DEE06-73AA-FCD3-C93D-ECECECDC9C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E8A05A-18C2-A13E-CEE8-2F1455B60E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BAAE0E-6A6E-AA57-525A-C1B7589A0E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17FB79-1615-896C-A82A-3321036EB7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7F333A-CB1F-9954-81DC-B01CD71FCF65}"/>
              </a:ext>
            </a:extLst>
          </p:cNvPr>
          <p:cNvSpPr>
            <a:spLocks noGrp="1"/>
          </p:cNvSpPr>
          <p:nvPr>
            <p:ph type="dt" sz="half" idx="10"/>
          </p:nvPr>
        </p:nvSpPr>
        <p:spPr/>
        <p:txBody>
          <a:bodyPr/>
          <a:lstStyle/>
          <a:p>
            <a:fld id="{E2FC9351-6833-4ACA-9B0E-1AFDFBD3FC6C}" type="datetimeFigureOut">
              <a:rPr lang="en-US" smtClean="0"/>
              <a:t>11/28/2024</a:t>
            </a:fld>
            <a:endParaRPr lang="en-US"/>
          </a:p>
        </p:txBody>
      </p:sp>
      <p:sp>
        <p:nvSpPr>
          <p:cNvPr id="8" name="Footer Placeholder 7">
            <a:extLst>
              <a:ext uri="{FF2B5EF4-FFF2-40B4-BE49-F238E27FC236}">
                <a16:creationId xmlns:a16="http://schemas.microsoft.com/office/drawing/2014/main" id="{2B71FD3A-7D4D-719E-3BE0-2EC3F71BCE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FF2771B-43AC-4221-2F9A-1F3C269FB36B}"/>
              </a:ext>
            </a:extLst>
          </p:cNvPr>
          <p:cNvSpPr>
            <a:spLocks noGrp="1"/>
          </p:cNvSpPr>
          <p:nvPr>
            <p:ph type="sldNum" sz="quarter" idx="12"/>
          </p:nvPr>
        </p:nvSpPr>
        <p:spPr/>
        <p:txBody>
          <a:bodyPr/>
          <a:lstStyle/>
          <a:p>
            <a:fld id="{CF9D6553-B421-4DB6-AAE8-4917336B08FE}" type="slidenum">
              <a:rPr lang="en-US" smtClean="0"/>
              <a:t>‹#›</a:t>
            </a:fld>
            <a:endParaRPr lang="en-US"/>
          </a:p>
        </p:txBody>
      </p:sp>
    </p:spTree>
    <p:extLst>
      <p:ext uri="{BB962C8B-B14F-4D97-AF65-F5344CB8AC3E}">
        <p14:creationId xmlns:p14="http://schemas.microsoft.com/office/powerpoint/2010/main" val="2777668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49D76-8374-D460-AE24-E1D5710330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1291CF3-7048-D494-4CCD-21972904F797}"/>
              </a:ext>
            </a:extLst>
          </p:cNvPr>
          <p:cNvSpPr>
            <a:spLocks noGrp="1"/>
          </p:cNvSpPr>
          <p:nvPr>
            <p:ph type="dt" sz="half" idx="10"/>
          </p:nvPr>
        </p:nvSpPr>
        <p:spPr/>
        <p:txBody>
          <a:bodyPr/>
          <a:lstStyle/>
          <a:p>
            <a:fld id="{E2FC9351-6833-4ACA-9B0E-1AFDFBD3FC6C}" type="datetimeFigureOut">
              <a:rPr lang="en-US" smtClean="0"/>
              <a:t>11/28/2024</a:t>
            </a:fld>
            <a:endParaRPr lang="en-US"/>
          </a:p>
        </p:txBody>
      </p:sp>
      <p:sp>
        <p:nvSpPr>
          <p:cNvPr id="4" name="Footer Placeholder 3">
            <a:extLst>
              <a:ext uri="{FF2B5EF4-FFF2-40B4-BE49-F238E27FC236}">
                <a16:creationId xmlns:a16="http://schemas.microsoft.com/office/drawing/2014/main" id="{DF340B83-9898-5802-BAF7-197C378106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A3E1EA-235B-5FB5-B1B9-C94118D0569C}"/>
              </a:ext>
            </a:extLst>
          </p:cNvPr>
          <p:cNvSpPr>
            <a:spLocks noGrp="1"/>
          </p:cNvSpPr>
          <p:nvPr>
            <p:ph type="sldNum" sz="quarter" idx="12"/>
          </p:nvPr>
        </p:nvSpPr>
        <p:spPr/>
        <p:txBody>
          <a:bodyPr/>
          <a:lstStyle/>
          <a:p>
            <a:fld id="{CF9D6553-B421-4DB6-AAE8-4917336B08FE}" type="slidenum">
              <a:rPr lang="en-US" smtClean="0"/>
              <a:t>‹#›</a:t>
            </a:fld>
            <a:endParaRPr lang="en-US"/>
          </a:p>
        </p:txBody>
      </p:sp>
    </p:spTree>
    <p:extLst>
      <p:ext uri="{BB962C8B-B14F-4D97-AF65-F5344CB8AC3E}">
        <p14:creationId xmlns:p14="http://schemas.microsoft.com/office/powerpoint/2010/main" val="2512584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1C9EFA-6985-BF50-7E2B-091819D01CA3}"/>
              </a:ext>
            </a:extLst>
          </p:cNvPr>
          <p:cNvSpPr>
            <a:spLocks noGrp="1"/>
          </p:cNvSpPr>
          <p:nvPr>
            <p:ph type="dt" sz="half" idx="10"/>
          </p:nvPr>
        </p:nvSpPr>
        <p:spPr/>
        <p:txBody>
          <a:bodyPr/>
          <a:lstStyle/>
          <a:p>
            <a:fld id="{E2FC9351-6833-4ACA-9B0E-1AFDFBD3FC6C}" type="datetimeFigureOut">
              <a:rPr lang="en-US" smtClean="0"/>
              <a:t>11/28/2024</a:t>
            </a:fld>
            <a:endParaRPr lang="en-US"/>
          </a:p>
        </p:txBody>
      </p:sp>
      <p:sp>
        <p:nvSpPr>
          <p:cNvPr id="3" name="Footer Placeholder 2">
            <a:extLst>
              <a:ext uri="{FF2B5EF4-FFF2-40B4-BE49-F238E27FC236}">
                <a16:creationId xmlns:a16="http://schemas.microsoft.com/office/drawing/2014/main" id="{6A124DA2-E226-750B-85E6-D2F09ABAAB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EEEFFEA-ABED-010F-A664-1A4F39771317}"/>
              </a:ext>
            </a:extLst>
          </p:cNvPr>
          <p:cNvSpPr>
            <a:spLocks noGrp="1"/>
          </p:cNvSpPr>
          <p:nvPr>
            <p:ph type="sldNum" sz="quarter" idx="12"/>
          </p:nvPr>
        </p:nvSpPr>
        <p:spPr/>
        <p:txBody>
          <a:bodyPr/>
          <a:lstStyle/>
          <a:p>
            <a:fld id="{CF9D6553-B421-4DB6-AAE8-4917336B08FE}" type="slidenum">
              <a:rPr lang="en-US" smtClean="0"/>
              <a:t>‹#›</a:t>
            </a:fld>
            <a:endParaRPr lang="en-US"/>
          </a:p>
        </p:txBody>
      </p:sp>
    </p:spTree>
    <p:extLst>
      <p:ext uri="{BB962C8B-B14F-4D97-AF65-F5344CB8AC3E}">
        <p14:creationId xmlns:p14="http://schemas.microsoft.com/office/powerpoint/2010/main" val="365948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A779E-2515-8AB0-CE5E-6E065663E9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A8812A-5A05-4E2E-F046-4106B82D8F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F3689AD-42F4-A416-F3ED-C6583CD92D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DF6689-9DEE-20C6-0252-94B5EFE6F48F}"/>
              </a:ext>
            </a:extLst>
          </p:cNvPr>
          <p:cNvSpPr>
            <a:spLocks noGrp="1"/>
          </p:cNvSpPr>
          <p:nvPr>
            <p:ph type="dt" sz="half" idx="10"/>
          </p:nvPr>
        </p:nvSpPr>
        <p:spPr/>
        <p:txBody>
          <a:bodyPr/>
          <a:lstStyle/>
          <a:p>
            <a:fld id="{E2FC9351-6833-4ACA-9B0E-1AFDFBD3FC6C}" type="datetimeFigureOut">
              <a:rPr lang="en-US" smtClean="0"/>
              <a:t>11/28/2024</a:t>
            </a:fld>
            <a:endParaRPr lang="en-US"/>
          </a:p>
        </p:txBody>
      </p:sp>
      <p:sp>
        <p:nvSpPr>
          <p:cNvPr id="6" name="Footer Placeholder 5">
            <a:extLst>
              <a:ext uri="{FF2B5EF4-FFF2-40B4-BE49-F238E27FC236}">
                <a16:creationId xmlns:a16="http://schemas.microsoft.com/office/drawing/2014/main" id="{123B0CF3-DBC8-7AC7-D3A0-207581789B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56614F-EB2A-124B-A85C-76C6036CA738}"/>
              </a:ext>
            </a:extLst>
          </p:cNvPr>
          <p:cNvSpPr>
            <a:spLocks noGrp="1"/>
          </p:cNvSpPr>
          <p:nvPr>
            <p:ph type="sldNum" sz="quarter" idx="12"/>
          </p:nvPr>
        </p:nvSpPr>
        <p:spPr/>
        <p:txBody>
          <a:bodyPr/>
          <a:lstStyle/>
          <a:p>
            <a:fld id="{CF9D6553-B421-4DB6-AAE8-4917336B08FE}" type="slidenum">
              <a:rPr lang="en-US" smtClean="0"/>
              <a:t>‹#›</a:t>
            </a:fld>
            <a:endParaRPr lang="en-US"/>
          </a:p>
        </p:txBody>
      </p:sp>
    </p:spTree>
    <p:extLst>
      <p:ext uri="{BB962C8B-B14F-4D97-AF65-F5344CB8AC3E}">
        <p14:creationId xmlns:p14="http://schemas.microsoft.com/office/powerpoint/2010/main" val="37754984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9E470-3CF8-CD3C-E653-0C270B392E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6B1DEC4-0ACE-DF25-202D-8E2DA42626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B6637F0-35CC-3B02-92FA-1F3DE1FD9D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A467E7-A39D-28F1-7200-768D8747031C}"/>
              </a:ext>
            </a:extLst>
          </p:cNvPr>
          <p:cNvSpPr>
            <a:spLocks noGrp="1"/>
          </p:cNvSpPr>
          <p:nvPr>
            <p:ph type="dt" sz="half" idx="10"/>
          </p:nvPr>
        </p:nvSpPr>
        <p:spPr/>
        <p:txBody>
          <a:bodyPr/>
          <a:lstStyle/>
          <a:p>
            <a:fld id="{E2FC9351-6833-4ACA-9B0E-1AFDFBD3FC6C}" type="datetimeFigureOut">
              <a:rPr lang="en-US" smtClean="0"/>
              <a:t>11/28/2024</a:t>
            </a:fld>
            <a:endParaRPr lang="en-US"/>
          </a:p>
        </p:txBody>
      </p:sp>
      <p:sp>
        <p:nvSpPr>
          <p:cNvPr id="6" name="Footer Placeholder 5">
            <a:extLst>
              <a:ext uri="{FF2B5EF4-FFF2-40B4-BE49-F238E27FC236}">
                <a16:creationId xmlns:a16="http://schemas.microsoft.com/office/drawing/2014/main" id="{9C3D7764-86CB-438C-51C5-1AE4C907DB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1980C5-CB16-8AB0-0508-40CD8489B881}"/>
              </a:ext>
            </a:extLst>
          </p:cNvPr>
          <p:cNvSpPr>
            <a:spLocks noGrp="1"/>
          </p:cNvSpPr>
          <p:nvPr>
            <p:ph type="sldNum" sz="quarter" idx="12"/>
          </p:nvPr>
        </p:nvSpPr>
        <p:spPr/>
        <p:txBody>
          <a:bodyPr/>
          <a:lstStyle/>
          <a:p>
            <a:fld id="{CF9D6553-B421-4DB6-AAE8-4917336B08FE}" type="slidenum">
              <a:rPr lang="en-US" smtClean="0"/>
              <a:t>‹#›</a:t>
            </a:fld>
            <a:endParaRPr lang="en-US"/>
          </a:p>
        </p:txBody>
      </p:sp>
    </p:spTree>
    <p:extLst>
      <p:ext uri="{BB962C8B-B14F-4D97-AF65-F5344CB8AC3E}">
        <p14:creationId xmlns:p14="http://schemas.microsoft.com/office/powerpoint/2010/main" val="385001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3E445-B7E9-D2DD-152F-D97651E8D4D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A30C93-AC77-5459-76BC-1B8999D5F0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743345-AFE4-D44C-E835-0D90188DE124}"/>
              </a:ext>
            </a:extLst>
          </p:cNvPr>
          <p:cNvSpPr>
            <a:spLocks noGrp="1"/>
          </p:cNvSpPr>
          <p:nvPr>
            <p:ph type="dt" sz="half" idx="10"/>
          </p:nvPr>
        </p:nvSpPr>
        <p:spPr/>
        <p:txBody>
          <a:bodyPr/>
          <a:lstStyle/>
          <a:p>
            <a:fld id="{E2FC9351-6833-4ACA-9B0E-1AFDFBD3FC6C}" type="datetimeFigureOut">
              <a:rPr lang="en-US" smtClean="0"/>
              <a:t>11/28/2024</a:t>
            </a:fld>
            <a:endParaRPr lang="en-US"/>
          </a:p>
        </p:txBody>
      </p:sp>
      <p:sp>
        <p:nvSpPr>
          <p:cNvPr id="5" name="Footer Placeholder 4">
            <a:extLst>
              <a:ext uri="{FF2B5EF4-FFF2-40B4-BE49-F238E27FC236}">
                <a16:creationId xmlns:a16="http://schemas.microsoft.com/office/drawing/2014/main" id="{B7C18B45-01E1-6824-0424-8FDE6C7EFE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F1E626-F091-A6D8-7521-85D78291BC0E}"/>
              </a:ext>
            </a:extLst>
          </p:cNvPr>
          <p:cNvSpPr>
            <a:spLocks noGrp="1"/>
          </p:cNvSpPr>
          <p:nvPr>
            <p:ph type="sldNum" sz="quarter" idx="12"/>
          </p:nvPr>
        </p:nvSpPr>
        <p:spPr/>
        <p:txBody>
          <a:bodyPr/>
          <a:lstStyle/>
          <a:p>
            <a:fld id="{CF9D6553-B421-4DB6-AAE8-4917336B08FE}" type="slidenum">
              <a:rPr lang="en-US" smtClean="0"/>
              <a:t>‹#›</a:t>
            </a:fld>
            <a:endParaRPr lang="en-US"/>
          </a:p>
        </p:txBody>
      </p:sp>
    </p:spTree>
    <p:extLst>
      <p:ext uri="{BB962C8B-B14F-4D97-AF65-F5344CB8AC3E}">
        <p14:creationId xmlns:p14="http://schemas.microsoft.com/office/powerpoint/2010/main" val="1935591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319ED1-9CAE-D108-AD1F-C4F490BCD9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B8509C2-9AF3-B1FE-731B-AB1E296F9D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12B3CC-C887-1F66-2657-3E4AF98D0AD3}"/>
              </a:ext>
            </a:extLst>
          </p:cNvPr>
          <p:cNvSpPr>
            <a:spLocks noGrp="1"/>
          </p:cNvSpPr>
          <p:nvPr>
            <p:ph type="dt" sz="half" idx="10"/>
          </p:nvPr>
        </p:nvSpPr>
        <p:spPr/>
        <p:txBody>
          <a:bodyPr/>
          <a:lstStyle/>
          <a:p>
            <a:fld id="{E2FC9351-6833-4ACA-9B0E-1AFDFBD3FC6C}" type="datetimeFigureOut">
              <a:rPr lang="en-US" smtClean="0"/>
              <a:t>11/28/2024</a:t>
            </a:fld>
            <a:endParaRPr lang="en-US"/>
          </a:p>
        </p:txBody>
      </p:sp>
      <p:sp>
        <p:nvSpPr>
          <p:cNvPr id="5" name="Footer Placeholder 4">
            <a:extLst>
              <a:ext uri="{FF2B5EF4-FFF2-40B4-BE49-F238E27FC236}">
                <a16:creationId xmlns:a16="http://schemas.microsoft.com/office/drawing/2014/main" id="{F381C170-B768-15E0-7494-3F5AD000AE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766BED-FB2F-AFD8-263A-E277A3652EEE}"/>
              </a:ext>
            </a:extLst>
          </p:cNvPr>
          <p:cNvSpPr>
            <a:spLocks noGrp="1"/>
          </p:cNvSpPr>
          <p:nvPr>
            <p:ph type="sldNum" sz="quarter" idx="12"/>
          </p:nvPr>
        </p:nvSpPr>
        <p:spPr/>
        <p:txBody>
          <a:bodyPr/>
          <a:lstStyle/>
          <a:p>
            <a:fld id="{CF9D6553-B421-4DB6-AAE8-4917336B08FE}" type="slidenum">
              <a:rPr lang="en-US" smtClean="0"/>
              <a:t>‹#›</a:t>
            </a:fld>
            <a:endParaRPr lang="en-US"/>
          </a:p>
        </p:txBody>
      </p:sp>
    </p:spTree>
    <p:extLst>
      <p:ext uri="{BB962C8B-B14F-4D97-AF65-F5344CB8AC3E}">
        <p14:creationId xmlns:p14="http://schemas.microsoft.com/office/powerpoint/2010/main" val="4128730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F69B03-1621-8BF6-4F64-138CE51860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AD630AA-5130-AFAB-4C39-658D8F6349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A86EDC-53B3-63EF-34D8-1494581B70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FC9351-6833-4ACA-9B0E-1AFDFBD3FC6C}" type="datetimeFigureOut">
              <a:rPr lang="en-US" smtClean="0"/>
              <a:t>11/28/2024</a:t>
            </a:fld>
            <a:endParaRPr lang="en-US"/>
          </a:p>
        </p:txBody>
      </p:sp>
      <p:sp>
        <p:nvSpPr>
          <p:cNvPr id="5" name="Footer Placeholder 4">
            <a:extLst>
              <a:ext uri="{FF2B5EF4-FFF2-40B4-BE49-F238E27FC236}">
                <a16:creationId xmlns:a16="http://schemas.microsoft.com/office/drawing/2014/main" id="{3020195D-5462-E774-EA88-15D5458F10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05DB709-980D-0E76-DB72-8E5E9953F0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9D6553-B421-4DB6-AAE8-4917336B08FE}" type="slidenum">
              <a:rPr lang="en-US" smtClean="0"/>
              <a:t>‹#›</a:t>
            </a:fld>
            <a:endParaRPr lang="en-US"/>
          </a:p>
        </p:txBody>
      </p:sp>
      <p:sp>
        <p:nvSpPr>
          <p:cNvPr id="7" name="Rectangle 6">
            <a:extLst>
              <a:ext uri="{FF2B5EF4-FFF2-40B4-BE49-F238E27FC236}">
                <a16:creationId xmlns:a16="http://schemas.microsoft.com/office/drawing/2014/main" id="{525CAF65-3179-97E4-7D9F-1A43A91BAA54}"/>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8" name="Straight Connector 7">
            <a:extLst>
              <a:ext uri="{FF2B5EF4-FFF2-40B4-BE49-F238E27FC236}">
                <a16:creationId xmlns:a16="http://schemas.microsoft.com/office/drawing/2014/main" id="{92E31FD7-676B-C4AF-4E2B-4AB691B137DA}"/>
              </a:ext>
            </a:extLst>
          </p:cNvPr>
          <p:cNvCxnSpPr/>
          <p:nvPr userDrawn="1"/>
        </p:nvCxnSpPr>
        <p:spPr>
          <a:xfrm>
            <a:off x="604434" y="1196392"/>
            <a:ext cx="10983132" cy="0"/>
          </a:xfrm>
          <a:prstGeom prst="line">
            <a:avLst/>
          </a:prstGeom>
          <a:ln w="25400">
            <a:solidFill>
              <a:srgbClr val="00828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3218707"/>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universe.roboflow.com/namnhat/human_pink_eyes_virus-ecxhr"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hyperlink" Target="../Research_Report_final%5b1%5d%20fyp2.docx"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E4F4321D-22CE-FD5E-FC2F-DD4B344DF40C}"/>
              </a:ext>
            </a:extLst>
          </p:cNvPr>
          <p:cNvSpPr>
            <a:spLocks noGrp="1"/>
          </p:cNvSpPr>
          <p:nvPr>
            <p:ph type="ctrTitle"/>
          </p:nvPr>
        </p:nvSpPr>
        <p:spPr>
          <a:xfrm>
            <a:off x="1080660" y="2391342"/>
            <a:ext cx="10058400" cy="3142400"/>
          </a:xfrm>
        </p:spPr>
        <p:txBody>
          <a:bodyPr anchor="b">
            <a:normAutofit/>
          </a:bodyPr>
          <a:lstStyle/>
          <a:p>
            <a:r>
              <a:rPr lang="en-US" sz="5400" b="1" dirty="0"/>
              <a:t>Diagnosis of Conjunctivitis using Artificial Intelligence</a:t>
            </a:r>
            <a:br>
              <a:rPr lang="en-US" sz="5400" b="1" dirty="0"/>
            </a:br>
            <a:endParaRPr lang="en-US" sz="4800" dirty="0">
              <a:solidFill>
                <a:schemeClr val="tx2"/>
              </a:solidFill>
            </a:endParaRPr>
          </a:p>
        </p:txBody>
      </p:sp>
      <p:grpSp>
        <p:nvGrpSpPr>
          <p:cNvPr id="12" name="Group 11">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19" name="Freeform: Shape 18">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descr="A picture containing circle&#10;&#10;Description automatically generated">
            <a:extLst>
              <a:ext uri="{FF2B5EF4-FFF2-40B4-BE49-F238E27FC236}">
                <a16:creationId xmlns:a16="http://schemas.microsoft.com/office/drawing/2014/main" id="{5E9E413A-ED0C-2C41-04AA-DE045CDEA4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3453" y="326605"/>
            <a:ext cx="2360930" cy="2499808"/>
          </a:xfrm>
          <a:prstGeom prst="rect">
            <a:avLst/>
          </a:prstGeom>
        </p:spPr>
      </p:pic>
    </p:spTree>
    <p:extLst>
      <p:ext uri="{BB962C8B-B14F-4D97-AF65-F5344CB8AC3E}">
        <p14:creationId xmlns:p14="http://schemas.microsoft.com/office/powerpoint/2010/main" val="3541148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dirty="0"/>
              <a:t>Project Team</a:t>
            </a:r>
          </a:p>
        </p:txBody>
      </p:sp>
      <p:sp>
        <p:nvSpPr>
          <p:cNvPr id="3075" name="Content Placeholder 2"/>
          <p:cNvSpPr>
            <a:spLocks noGrp="1"/>
          </p:cNvSpPr>
          <p:nvPr>
            <p:ph idx="1"/>
          </p:nvPr>
        </p:nvSpPr>
        <p:spPr/>
        <p:txBody>
          <a:bodyPr/>
          <a:lstStyle/>
          <a:p>
            <a:r>
              <a:rPr lang="en-US" dirty="0"/>
              <a:t>Bilal Faiz                   (BCSM-S21-025)</a:t>
            </a:r>
          </a:p>
          <a:p>
            <a:r>
              <a:rPr lang="en-US" dirty="0"/>
              <a:t>Muhammad Ans     (BCSM-S21-045)</a:t>
            </a:r>
          </a:p>
          <a:p>
            <a:r>
              <a:rPr lang="en-US" dirty="0"/>
              <a:t>Muhammad Asim  (BCSM-S21-004)</a:t>
            </a:r>
          </a:p>
          <a:p>
            <a:pPr eaLnBrk="1" hangingPunct="1"/>
            <a:endParaRPr lang="en-US" dirty="0"/>
          </a:p>
          <a:p>
            <a:pPr eaLnBrk="1" hangingPunct="1"/>
            <a:r>
              <a:rPr lang="en-US" sz="3200" b="1" dirty="0"/>
              <a:t>Supervisor: Neha Zulfiqar</a:t>
            </a:r>
          </a:p>
          <a:p>
            <a:pPr marL="0" indent="0" eaLnBrk="1" hangingPunct="1">
              <a:buNone/>
            </a:pPr>
            <a:endParaRPr lang="en-US" dirty="0"/>
          </a:p>
          <a:p>
            <a:pPr eaLnBrk="1" hangingPunct="1"/>
            <a:endParaRPr lang="en-US" dirty="0"/>
          </a:p>
        </p:txBody>
      </p:sp>
    </p:spTree>
    <p:extLst>
      <p:ext uri="{BB962C8B-B14F-4D97-AF65-F5344CB8AC3E}">
        <p14:creationId xmlns:p14="http://schemas.microsoft.com/office/powerpoint/2010/main" val="1146731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32828-2378-410A-8302-2CFE7F8E36EE}"/>
              </a:ext>
            </a:extLst>
          </p:cNvPr>
          <p:cNvSpPr>
            <a:spLocks noGrp="1"/>
          </p:cNvSpPr>
          <p:nvPr>
            <p:ph type="title"/>
          </p:nvPr>
        </p:nvSpPr>
        <p:spPr/>
        <p:txBody>
          <a:bodyPr/>
          <a:lstStyle/>
          <a:p>
            <a:r>
              <a:rPr lang="en-US" dirty="0"/>
              <a:t>Introduction </a:t>
            </a:r>
          </a:p>
        </p:txBody>
      </p:sp>
      <p:sp>
        <p:nvSpPr>
          <p:cNvPr id="4" name="Content Placeholder 3">
            <a:extLst>
              <a:ext uri="{FF2B5EF4-FFF2-40B4-BE49-F238E27FC236}">
                <a16:creationId xmlns:a16="http://schemas.microsoft.com/office/drawing/2014/main" id="{48837F7B-C733-4A24-BE9B-158FA98BE230}"/>
              </a:ext>
            </a:extLst>
          </p:cNvPr>
          <p:cNvSpPr>
            <a:spLocks noGrp="1"/>
          </p:cNvSpPr>
          <p:nvPr>
            <p:ph sz="half" idx="1"/>
          </p:nvPr>
        </p:nvSpPr>
        <p:spPr>
          <a:xfrm>
            <a:off x="838200" y="1825625"/>
            <a:ext cx="6978446" cy="4351338"/>
          </a:xfrm>
        </p:spPr>
        <p:txBody>
          <a:bodyPr>
            <a:normAutofit/>
          </a:bodyPr>
          <a:lstStyle/>
          <a:p>
            <a:pPr algn="just"/>
            <a:r>
              <a:rPr lang="en-US" dirty="0"/>
              <a:t>Conjunctivitis involves inflammation of the eye's lining and sclera (</a:t>
            </a:r>
            <a:r>
              <a:rPr lang="en-US" dirty="0" err="1"/>
              <a:t>Sindhuja</a:t>
            </a:r>
            <a:r>
              <a:rPr lang="en-US" dirty="0"/>
              <a:t> et al., 2020).</a:t>
            </a:r>
          </a:p>
          <a:p>
            <a:pPr algn="just"/>
            <a:r>
              <a:rPr lang="en-US" dirty="0"/>
              <a:t>Caused by allergies, bacterial, and viral infections (Sindhuja et al., 2020).</a:t>
            </a:r>
          </a:p>
          <a:p>
            <a:pPr algn="just"/>
            <a:r>
              <a:rPr lang="en-US" dirty="0"/>
              <a:t>Highly infectious due to irritating fluids, requiring preventive measures (Pepose et al., 2020). </a:t>
            </a:r>
          </a:p>
          <a:p>
            <a:pPr algn="just"/>
            <a:r>
              <a:rPr lang="en-US" dirty="0"/>
              <a:t>Common in the general population, with some more vulnerable to ocular problems (</a:t>
            </a:r>
            <a:r>
              <a:rPr lang="en-US" dirty="0" err="1"/>
              <a:t>Khairallah</a:t>
            </a:r>
            <a:r>
              <a:rPr lang="en-US" dirty="0"/>
              <a:t> &amp; </a:t>
            </a:r>
            <a:r>
              <a:rPr lang="en-US" dirty="0" err="1"/>
              <a:t>Kahloun</a:t>
            </a:r>
            <a:r>
              <a:rPr lang="en-US" dirty="0"/>
              <a:t>, 2013).</a:t>
            </a:r>
          </a:p>
          <a:p>
            <a:pPr marL="0" indent="0" algn="just">
              <a:buNone/>
            </a:pPr>
            <a:endParaRPr lang="en-US" dirty="0"/>
          </a:p>
        </p:txBody>
      </p:sp>
      <p:pic>
        <p:nvPicPr>
          <p:cNvPr id="6" name="Content Placeholder 11">
            <a:extLst>
              <a:ext uri="{FF2B5EF4-FFF2-40B4-BE49-F238E27FC236}">
                <a16:creationId xmlns:a16="http://schemas.microsoft.com/office/drawing/2014/main" id="{4FF7101E-6723-42A3-B4A2-47D3814BB4AE}"/>
              </a:ext>
            </a:extLst>
          </p:cNvPr>
          <p:cNvPicPr>
            <a:picLocks noGrp="1" noChangeAspect="1"/>
          </p:cNvPicPr>
          <p:nvPr>
            <p:ph sz="half" idx="2"/>
          </p:nvPr>
        </p:nvPicPr>
        <p:blipFill>
          <a:blip r:embed="rId3"/>
          <a:stretch>
            <a:fillRect/>
          </a:stretch>
        </p:blipFill>
        <p:spPr>
          <a:xfrm>
            <a:off x="7816646" y="1825625"/>
            <a:ext cx="3809814" cy="3818774"/>
          </a:xfrm>
          <a:prstGeom prst="rect">
            <a:avLst/>
          </a:prstGeom>
        </p:spPr>
      </p:pic>
    </p:spTree>
    <p:extLst>
      <p:ext uri="{BB962C8B-B14F-4D97-AF65-F5344CB8AC3E}">
        <p14:creationId xmlns:p14="http://schemas.microsoft.com/office/powerpoint/2010/main" val="2169085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32828-2378-410A-8302-2CFE7F8E36EE}"/>
              </a:ext>
            </a:extLst>
          </p:cNvPr>
          <p:cNvSpPr>
            <a:spLocks noGrp="1"/>
          </p:cNvSpPr>
          <p:nvPr>
            <p:ph type="title"/>
          </p:nvPr>
        </p:nvSpPr>
        <p:spPr/>
        <p:txBody>
          <a:bodyPr/>
          <a:lstStyle/>
          <a:p>
            <a:r>
              <a:rPr lang="en-US" b="1" dirty="0"/>
              <a:t>Symptoms of Conjunctivitis</a:t>
            </a:r>
            <a:endParaRPr lang="en-US" dirty="0"/>
          </a:p>
        </p:txBody>
      </p:sp>
      <p:sp>
        <p:nvSpPr>
          <p:cNvPr id="4" name="Content Placeholder 3">
            <a:extLst>
              <a:ext uri="{FF2B5EF4-FFF2-40B4-BE49-F238E27FC236}">
                <a16:creationId xmlns:a16="http://schemas.microsoft.com/office/drawing/2014/main" id="{48837F7B-C733-4A24-BE9B-158FA98BE230}"/>
              </a:ext>
            </a:extLst>
          </p:cNvPr>
          <p:cNvSpPr>
            <a:spLocks noGrp="1"/>
          </p:cNvSpPr>
          <p:nvPr>
            <p:ph idx="1"/>
          </p:nvPr>
        </p:nvSpPr>
        <p:spPr/>
        <p:txBody>
          <a:bodyPr>
            <a:normAutofit/>
          </a:bodyPr>
          <a:lstStyle/>
          <a:p>
            <a:r>
              <a:rPr lang="en-US" dirty="0"/>
              <a:t>Ocular redness (Sindhuja et al., 2020)</a:t>
            </a:r>
          </a:p>
          <a:p>
            <a:r>
              <a:rPr lang="en-US" dirty="0"/>
              <a:t>Itching (Azari &amp; Barney, 2013)</a:t>
            </a:r>
          </a:p>
          <a:p>
            <a:r>
              <a:rPr lang="en-US" dirty="0"/>
              <a:t>Crusting on eyelashes at night (Azari &amp; Barney, 2013)</a:t>
            </a:r>
          </a:p>
          <a:p>
            <a:r>
              <a:rPr lang="en-US" dirty="0"/>
              <a:t>Watery discharge (Sheikh et al., 2012)</a:t>
            </a:r>
          </a:p>
          <a:p>
            <a:r>
              <a:rPr lang="en-US" dirty="0"/>
              <a:t>Burning sensation (Sheikh et al., 2012)</a:t>
            </a:r>
          </a:p>
          <a:p>
            <a:r>
              <a:rPr lang="en-US" dirty="0"/>
              <a:t>Eyelid swelling (Bielory et al., 2021)</a:t>
            </a:r>
          </a:p>
          <a:p>
            <a:r>
              <a:rPr lang="en-US" dirty="0"/>
              <a:t>Conjunctival redness (Bielory et al., 2021)</a:t>
            </a:r>
          </a:p>
        </p:txBody>
      </p:sp>
    </p:spTree>
    <p:extLst>
      <p:ext uri="{BB962C8B-B14F-4D97-AF65-F5344CB8AC3E}">
        <p14:creationId xmlns:p14="http://schemas.microsoft.com/office/powerpoint/2010/main" val="2840198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D969D-9190-4B2A-ADB1-4A9EDF47228D}"/>
              </a:ext>
            </a:extLst>
          </p:cNvPr>
          <p:cNvSpPr>
            <a:spLocks noGrp="1"/>
          </p:cNvSpPr>
          <p:nvPr>
            <p:ph type="title"/>
          </p:nvPr>
        </p:nvSpPr>
        <p:spPr/>
        <p:txBody>
          <a:bodyPr/>
          <a:lstStyle/>
          <a:p>
            <a:r>
              <a:rPr lang="en-US" dirty="0"/>
              <a:t>Types of pink eye</a:t>
            </a:r>
          </a:p>
        </p:txBody>
      </p:sp>
      <p:pic>
        <p:nvPicPr>
          <p:cNvPr id="5" name="Content Placeholder 4">
            <a:extLst>
              <a:ext uri="{FF2B5EF4-FFF2-40B4-BE49-F238E27FC236}">
                <a16:creationId xmlns:a16="http://schemas.microsoft.com/office/drawing/2014/main" id="{31C53B6A-8F25-48AB-93D4-93E7F7ECD644}"/>
              </a:ext>
            </a:extLst>
          </p:cNvPr>
          <p:cNvPicPr>
            <a:picLocks noGrp="1" noChangeAspect="1"/>
          </p:cNvPicPr>
          <p:nvPr>
            <p:ph idx="1"/>
          </p:nvPr>
        </p:nvPicPr>
        <p:blipFill>
          <a:blip r:embed="rId3"/>
          <a:stretch>
            <a:fillRect/>
          </a:stretch>
        </p:blipFill>
        <p:spPr>
          <a:xfrm>
            <a:off x="838201" y="1690687"/>
            <a:ext cx="3136900" cy="3258344"/>
          </a:xfrm>
          <a:prstGeom prst="rect">
            <a:avLst/>
          </a:prstGeom>
        </p:spPr>
      </p:pic>
      <p:pic>
        <p:nvPicPr>
          <p:cNvPr id="9" name="Content Placeholder 8">
            <a:extLst>
              <a:ext uri="{FF2B5EF4-FFF2-40B4-BE49-F238E27FC236}">
                <a16:creationId xmlns:a16="http://schemas.microsoft.com/office/drawing/2014/main" id="{0996586F-ADCF-4204-AAC2-C6E6D43C4B8A}"/>
              </a:ext>
            </a:extLst>
          </p:cNvPr>
          <p:cNvPicPr>
            <a:picLocks noChangeAspect="1"/>
          </p:cNvPicPr>
          <p:nvPr/>
        </p:nvPicPr>
        <p:blipFill>
          <a:blip r:embed="rId4"/>
          <a:srcRect r="10322"/>
          <a:stretch/>
        </p:blipFill>
        <p:spPr>
          <a:xfrm>
            <a:off x="4432297" y="1690686"/>
            <a:ext cx="3327399" cy="3258344"/>
          </a:xfrm>
          <a:prstGeom prst="rect">
            <a:avLst/>
          </a:prstGeom>
        </p:spPr>
      </p:pic>
      <p:pic>
        <p:nvPicPr>
          <p:cNvPr id="10" name="Content Placeholder 9">
            <a:extLst>
              <a:ext uri="{FF2B5EF4-FFF2-40B4-BE49-F238E27FC236}">
                <a16:creationId xmlns:a16="http://schemas.microsoft.com/office/drawing/2014/main" id="{65A6126B-3580-4FA0-8A87-9B84CE9811DB}"/>
              </a:ext>
            </a:extLst>
          </p:cNvPr>
          <p:cNvPicPr>
            <a:picLocks noChangeAspect="1"/>
          </p:cNvPicPr>
          <p:nvPr/>
        </p:nvPicPr>
        <p:blipFill>
          <a:blip r:embed="rId5"/>
          <a:stretch>
            <a:fillRect/>
          </a:stretch>
        </p:blipFill>
        <p:spPr>
          <a:xfrm>
            <a:off x="8216899" y="1690687"/>
            <a:ext cx="3136900" cy="3258344"/>
          </a:xfrm>
          <a:prstGeom prst="rect">
            <a:avLst/>
          </a:prstGeom>
        </p:spPr>
      </p:pic>
      <p:sp>
        <p:nvSpPr>
          <p:cNvPr id="4" name="TextBox 3">
            <a:extLst>
              <a:ext uri="{FF2B5EF4-FFF2-40B4-BE49-F238E27FC236}">
                <a16:creationId xmlns:a16="http://schemas.microsoft.com/office/drawing/2014/main" id="{CAF07254-0844-A5FE-E7B7-B4CFEBBEFDA3}"/>
              </a:ext>
            </a:extLst>
          </p:cNvPr>
          <p:cNvSpPr txBox="1"/>
          <p:nvPr/>
        </p:nvSpPr>
        <p:spPr>
          <a:xfrm>
            <a:off x="838198" y="4949030"/>
            <a:ext cx="3136901" cy="707886"/>
          </a:xfrm>
          <a:prstGeom prst="rect">
            <a:avLst/>
          </a:prstGeom>
          <a:noFill/>
        </p:spPr>
        <p:txBody>
          <a:bodyPr wrap="square">
            <a:spAutoFit/>
          </a:bodyPr>
          <a:lstStyle/>
          <a:p>
            <a:r>
              <a:rPr lang="en-US" sz="2000" b="1" dirty="0"/>
              <a:t>Viral conjunctivitis (</a:t>
            </a:r>
            <a:r>
              <a:rPr lang="en-US" sz="2000" b="1" dirty="0" err="1"/>
              <a:t>Tabuchi</a:t>
            </a:r>
            <a:r>
              <a:rPr lang="en-US" sz="2000" b="1" dirty="0"/>
              <a:t> et al. 2020)</a:t>
            </a:r>
          </a:p>
        </p:txBody>
      </p:sp>
      <p:sp>
        <p:nvSpPr>
          <p:cNvPr id="7" name="TextBox 6">
            <a:extLst>
              <a:ext uri="{FF2B5EF4-FFF2-40B4-BE49-F238E27FC236}">
                <a16:creationId xmlns:a16="http://schemas.microsoft.com/office/drawing/2014/main" id="{F5C290F7-FFA7-FD97-0EA6-0A5E85BE9A03}"/>
              </a:ext>
            </a:extLst>
          </p:cNvPr>
          <p:cNvSpPr txBox="1"/>
          <p:nvPr/>
        </p:nvSpPr>
        <p:spPr>
          <a:xfrm>
            <a:off x="8216892" y="4949030"/>
            <a:ext cx="3136901" cy="707886"/>
          </a:xfrm>
          <a:prstGeom prst="rect">
            <a:avLst/>
          </a:prstGeom>
          <a:noFill/>
        </p:spPr>
        <p:txBody>
          <a:bodyPr wrap="square">
            <a:spAutoFit/>
          </a:bodyPr>
          <a:lstStyle/>
          <a:p>
            <a:r>
              <a:rPr lang="en-US" sz="2000" b="1" dirty="0"/>
              <a:t>Allergic conjunctivitis (Akram et al., 2020)</a:t>
            </a:r>
          </a:p>
        </p:txBody>
      </p:sp>
      <p:sp>
        <p:nvSpPr>
          <p:cNvPr id="11" name="TextBox 10">
            <a:extLst>
              <a:ext uri="{FF2B5EF4-FFF2-40B4-BE49-F238E27FC236}">
                <a16:creationId xmlns:a16="http://schemas.microsoft.com/office/drawing/2014/main" id="{852F3793-6B62-FF37-5154-0A3C4ABEDBDA}"/>
              </a:ext>
            </a:extLst>
          </p:cNvPr>
          <p:cNvSpPr txBox="1"/>
          <p:nvPr/>
        </p:nvSpPr>
        <p:spPr>
          <a:xfrm>
            <a:off x="4432297" y="4949030"/>
            <a:ext cx="3327399" cy="707886"/>
          </a:xfrm>
          <a:prstGeom prst="rect">
            <a:avLst/>
          </a:prstGeom>
          <a:noFill/>
        </p:spPr>
        <p:txBody>
          <a:bodyPr wrap="square">
            <a:spAutoFit/>
          </a:bodyPr>
          <a:lstStyle/>
          <a:p>
            <a:r>
              <a:rPr lang="en-US" sz="2000" b="1" dirty="0"/>
              <a:t>Bacterial conjunctivitis (</a:t>
            </a:r>
            <a:r>
              <a:rPr lang="en-US" sz="2000" b="1" dirty="0" err="1"/>
              <a:t>Bobade</a:t>
            </a:r>
            <a:r>
              <a:rPr lang="en-US" sz="2000" b="1" dirty="0"/>
              <a:t> et al., 2023) </a:t>
            </a:r>
          </a:p>
        </p:txBody>
      </p:sp>
    </p:spTree>
    <p:extLst>
      <p:ext uri="{BB962C8B-B14F-4D97-AF65-F5344CB8AC3E}">
        <p14:creationId xmlns:p14="http://schemas.microsoft.com/office/powerpoint/2010/main" val="3185738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D969D-9190-4B2A-ADB1-4A9EDF47228D}"/>
              </a:ext>
            </a:extLst>
          </p:cNvPr>
          <p:cNvSpPr>
            <a:spLocks noGrp="1"/>
          </p:cNvSpPr>
          <p:nvPr>
            <p:ph type="title"/>
          </p:nvPr>
        </p:nvSpPr>
        <p:spPr/>
        <p:txBody>
          <a:bodyPr/>
          <a:lstStyle/>
          <a:p>
            <a:r>
              <a:rPr lang="en-US" dirty="0"/>
              <a:t>Affected Population</a:t>
            </a:r>
          </a:p>
        </p:txBody>
      </p:sp>
      <p:sp>
        <p:nvSpPr>
          <p:cNvPr id="3" name="Content Placeholder 2">
            <a:extLst>
              <a:ext uri="{FF2B5EF4-FFF2-40B4-BE49-F238E27FC236}">
                <a16:creationId xmlns:a16="http://schemas.microsoft.com/office/drawing/2014/main" id="{0CFD6D8B-A5F8-40C8-A2A6-7248B4E3B163}"/>
              </a:ext>
            </a:extLst>
          </p:cNvPr>
          <p:cNvSpPr>
            <a:spLocks noGrp="1"/>
          </p:cNvSpPr>
          <p:nvPr>
            <p:ph idx="1"/>
          </p:nvPr>
        </p:nvSpPr>
        <p:spPr>
          <a:xfrm>
            <a:off x="838200" y="1690688"/>
            <a:ext cx="10515600" cy="4351338"/>
          </a:xfrm>
        </p:spPr>
        <p:txBody>
          <a:bodyPr>
            <a:normAutofit/>
          </a:bodyPr>
          <a:lstStyle/>
          <a:p>
            <a:r>
              <a:rPr lang="en-US" dirty="0"/>
              <a:t>Adenoviruses are extremely infectious, with an estimated 20 million Americans infected each year.</a:t>
            </a:r>
          </a:p>
          <a:p>
            <a:r>
              <a:rPr lang="en-US" dirty="0"/>
              <a:t>Significant data from Pakistan (75%), Turkey (44%), and China (39.8%) further support these high infection rates.</a:t>
            </a:r>
          </a:p>
          <a:p>
            <a:r>
              <a:rPr lang="en-US" dirty="0"/>
              <a:t>On September 28, 2023, an epidemic of adenovirus ophthalmopathy occurred in Pakistan, affecting 86,133 people, mostly in Punjab province.</a:t>
            </a:r>
          </a:p>
          <a:p>
            <a:r>
              <a:rPr lang="en-US" dirty="0"/>
              <a:t>The average number of cases during the epidemic was 13,000 per day (Idrees et al., 2024).</a:t>
            </a:r>
          </a:p>
        </p:txBody>
      </p:sp>
    </p:spTree>
    <p:extLst>
      <p:ext uri="{BB962C8B-B14F-4D97-AF65-F5344CB8AC3E}">
        <p14:creationId xmlns:p14="http://schemas.microsoft.com/office/powerpoint/2010/main" val="187049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dirty="0"/>
              <a:t>Literature Review</a:t>
            </a:r>
          </a:p>
        </p:txBody>
      </p:sp>
      <p:sp>
        <p:nvSpPr>
          <p:cNvPr id="10243" name="Content Placeholder 2"/>
          <p:cNvSpPr>
            <a:spLocks noGrp="1"/>
          </p:cNvSpPr>
          <p:nvPr>
            <p:ph idx="1"/>
          </p:nvPr>
        </p:nvSpPr>
        <p:spPr/>
        <p:txBody>
          <a:bodyPr>
            <a:normAutofit/>
          </a:bodyPr>
          <a:lstStyle/>
          <a:p>
            <a:r>
              <a:rPr lang="en-US" dirty="0"/>
              <a:t>Used deep learning and machine learning algorithms e.g. CNN, ANN, Resnet50, VGG16 and VGG19 , Yolo v5  </a:t>
            </a:r>
          </a:p>
          <a:p>
            <a:r>
              <a:rPr lang="en-US" dirty="0"/>
              <a:t>Used Different Classifiers including SVM, Random Forest etc.  </a:t>
            </a:r>
          </a:p>
          <a:p>
            <a:r>
              <a:rPr lang="en-US" dirty="0"/>
              <a:t>Achieved accuracies between 83.33% to 98.79%</a:t>
            </a:r>
          </a:p>
          <a:p>
            <a:r>
              <a:rPr lang="en-US" dirty="0"/>
              <a:t>Dataset included different  images related to eye diseases</a:t>
            </a:r>
          </a:p>
          <a:p>
            <a:r>
              <a:rPr lang="en-US" dirty="0"/>
              <a:t>The issue of class imbalance in datasets is particularly noted in the work by </a:t>
            </a:r>
            <a:r>
              <a:rPr lang="en-GB" dirty="0"/>
              <a:t>İbrahim et al. (2024) </a:t>
            </a:r>
            <a:r>
              <a:rPr lang="en-US" dirty="0"/>
              <a:t>, which provides a robust framework for the automated detection of pink eye.</a:t>
            </a:r>
          </a:p>
        </p:txBody>
      </p:sp>
    </p:spTree>
    <p:extLst>
      <p:ext uri="{BB962C8B-B14F-4D97-AF65-F5344CB8AC3E}">
        <p14:creationId xmlns:p14="http://schemas.microsoft.com/office/powerpoint/2010/main" val="835110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dirty="0"/>
              <a:t>Problem Statement</a:t>
            </a:r>
          </a:p>
        </p:txBody>
      </p:sp>
      <p:sp>
        <p:nvSpPr>
          <p:cNvPr id="4099" name="Content Placeholder 2"/>
          <p:cNvSpPr>
            <a:spLocks noGrp="1"/>
          </p:cNvSpPr>
          <p:nvPr>
            <p:ph idx="1"/>
          </p:nvPr>
        </p:nvSpPr>
        <p:spPr/>
        <p:txBody>
          <a:bodyPr>
            <a:normAutofit/>
          </a:bodyPr>
          <a:lstStyle/>
          <a:p>
            <a:pPr marL="0" indent="0" algn="just">
              <a:buNone/>
            </a:pPr>
            <a:r>
              <a:rPr lang="en-US" dirty="0"/>
              <a:t>The diagnosis of ophthalmic disorders often relies on elusive examinations, especially in genetic conditions. Our review identified class imbalance and model complexity as major issues, leading to overfitting and misleadingly high accuracy. We propose customized methods to manage these imbalances and improve pattern recognition, aiming to enhance algorithm robustness and reliability across diverse datasets for better real-world applicability.</a:t>
            </a:r>
          </a:p>
          <a:p>
            <a:pPr marL="0" indent="0" algn="just">
              <a:buNone/>
            </a:pPr>
            <a:endParaRPr lang="en-US" dirty="0"/>
          </a:p>
        </p:txBody>
      </p:sp>
    </p:spTree>
    <p:extLst>
      <p:ext uri="{BB962C8B-B14F-4D97-AF65-F5344CB8AC3E}">
        <p14:creationId xmlns:p14="http://schemas.microsoft.com/office/powerpoint/2010/main" val="2193086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a:t>
            </a:r>
          </a:p>
        </p:txBody>
      </p:sp>
      <p:sp>
        <p:nvSpPr>
          <p:cNvPr id="3" name="Content Placeholder 2"/>
          <p:cNvSpPr>
            <a:spLocks noGrp="1"/>
          </p:cNvSpPr>
          <p:nvPr>
            <p:ph idx="1"/>
          </p:nvPr>
        </p:nvSpPr>
        <p:spPr/>
        <p:txBody>
          <a:bodyPr>
            <a:normAutofit/>
          </a:bodyPr>
          <a:lstStyle/>
          <a:p>
            <a:pPr algn="just"/>
            <a:r>
              <a:rPr lang="en-US" dirty="0"/>
              <a:t>Develop comprehensive literature on conjunctivitis diagnosis.</a:t>
            </a:r>
          </a:p>
          <a:p>
            <a:pPr algn="just"/>
            <a:r>
              <a:rPr lang="en-US" dirty="0"/>
              <a:t>Accurately predict difference between conjunctivitis-affected and healthy eyes.</a:t>
            </a:r>
          </a:p>
          <a:p>
            <a:pPr algn="just"/>
            <a:r>
              <a:rPr lang="en-US" dirty="0"/>
              <a:t>Address class imbalances and identify complex patterns in datasets.</a:t>
            </a:r>
          </a:p>
          <a:p>
            <a:pPr algn="just"/>
            <a:r>
              <a:rPr lang="en-US" dirty="0"/>
              <a:t>Use a dataset of conjunctivitis types and Deep Learning algorithm for training.</a:t>
            </a:r>
          </a:p>
          <a:p>
            <a:pPr algn="just"/>
            <a:r>
              <a:rPr lang="en-US" dirty="0"/>
              <a:t>Train the model to recognize viral, bacterial, and allergic conjunctivitis.</a:t>
            </a:r>
          </a:p>
          <a:p>
            <a:pPr marL="0" indent="0" algn="just">
              <a:buNone/>
            </a:pPr>
            <a:endParaRPr lang="en-US" dirty="0"/>
          </a:p>
        </p:txBody>
      </p:sp>
    </p:spTree>
    <p:extLst>
      <p:ext uri="{BB962C8B-B14F-4D97-AF65-F5344CB8AC3E}">
        <p14:creationId xmlns:p14="http://schemas.microsoft.com/office/powerpoint/2010/main" val="2962273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D969D-9190-4B2A-ADB1-4A9EDF47228D}"/>
              </a:ext>
            </a:extLst>
          </p:cNvPr>
          <p:cNvSpPr>
            <a:spLocks noGrp="1"/>
          </p:cNvSpPr>
          <p:nvPr>
            <p:ph type="title"/>
          </p:nvPr>
        </p:nvSpPr>
        <p:spPr/>
        <p:txBody>
          <a:bodyPr/>
          <a:lstStyle/>
          <a:p>
            <a:r>
              <a:rPr lang="en-US" dirty="0"/>
              <a:t>Methodology</a:t>
            </a:r>
          </a:p>
        </p:txBody>
      </p:sp>
      <p:pic>
        <p:nvPicPr>
          <p:cNvPr id="14" name="Picture 13">
            <a:extLst>
              <a:ext uri="{FF2B5EF4-FFF2-40B4-BE49-F238E27FC236}">
                <a16:creationId xmlns:a16="http://schemas.microsoft.com/office/drawing/2014/main" id="{900C26EF-329E-314D-25D3-D9DB06D9C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90688"/>
            <a:ext cx="10515599" cy="3643312"/>
          </a:xfrm>
          <a:prstGeom prst="rect">
            <a:avLst/>
          </a:prstGeom>
        </p:spPr>
      </p:pic>
    </p:spTree>
    <p:extLst>
      <p:ext uri="{BB962C8B-B14F-4D97-AF65-F5344CB8AC3E}">
        <p14:creationId xmlns:p14="http://schemas.microsoft.com/office/powerpoint/2010/main" val="3239869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0E937-9F29-531A-1151-97CBF6EC99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2855E-BCA4-21F8-9661-C42582716BFA}"/>
              </a:ext>
            </a:extLst>
          </p:cNvPr>
          <p:cNvSpPr>
            <a:spLocks noGrp="1"/>
          </p:cNvSpPr>
          <p:nvPr>
            <p:ph type="title"/>
          </p:nvPr>
        </p:nvSpPr>
        <p:spPr/>
        <p:txBody>
          <a:bodyPr/>
          <a:lstStyle/>
          <a:p>
            <a:r>
              <a:rPr lang="en-US" dirty="0"/>
              <a:t>Implementation</a:t>
            </a:r>
          </a:p>
        </p:txBody>
      </p:sp>
      <p:sp>
        <p:nvSpPr>
          <p:cNvPr id="7" name="TextBox 6">
            <a:extLst>
              <a:ext uri="{FF2B5EF4-FFF2-40B4-BE49-F238E27FC236}">
                <a16:creationId xmlns:a16="http://schemas.microsoft.com/office/drawing/2014/main" id="{5184592F-157C-F043-6576-A9B5D0BB944B}"/>
              </a:ext>
            </a:extLst>
          </p:cNvPr>
          <p:cNvSpPr txBox="1"/>
          <p:nvPr/>
        </p:nvSpPr>
        <p:spPr>
          <a:xfrm>
            <a:off x="838200" y="1554263"/>
            <a:ext cx="8305800" cy="3046988"/>
          </a:xfrm>
          <a:prstGeom prst="rect">
            <a:avLst/>
          </a:prstGeom>
          <a:noFill/>
        </p:spPr>
        <p:txBody>
          <a:bodyPr wrap="square">
            <a:spAutoFit/>
          </a:bodyPr>
          <a:lstStyle/>
          <a:p>
            <a:pPr marL="571500" indent="-571500" algn="just">
              <a:buFont typeface="Arial" panose="020B0604020202020204" pitchFamily="34" charset="0"/>
              <a:buChar char="•"/>
            </a:pPr>
            <a:r>
              <a:rPr lang="en-US" sz="3200" dirty="0"/>
              <a:t>Data Collection</a:t>
            </a:r>
          </a:p>
          <a:p>
            <a:pPr marL="571500" indent="-571500" algn="just">
              <a:buFont typeface="Arial" panose="020B0604020202020204" pitchFamily="34" charset="0"/>
              <a:buChar char="•"/>
            </a:pPr>
            <a:r>
              <a:rPr lang="en-US" sz="3200" dirty="0"/>
              <a:t>Preprocessing</a:t>
            </a:r>
          </a:p>
          <a:p>
            <a:pPr marL="571500" indent="-571500" algn="just">
              <a:buFont typeface="Arial" panose="020B0604020202020204" pitchFamily="34" charset="0"/>
              <a:buChar char="•"/>
            </a:pPr>
            <a:r>
              <a:rPr lang="en-US" sz="3200" dirty="0"/>
              <a:t>Segmentation + Augmentation</a:t>
            </a:r>
          </a:p>
          <a:p>
            <a:pPr marL="571500" indent="-571500" algn="just">
              <a:buFont typeface="Arial" panose="020B0604020202020204" pitchFamily="34" charset="0"/>
              <a:buChar char="•"/>
            </a:pPr>
            <a:r>
              <a:rPr lang="en-US" sz="3200" dirty="0"/>
              <a:t>Model Training</a:t>
            </a:r>
          </a:p>
          <a:p>
            <a:pPr marL="571500" indent="-571500" algn="just">
              <a:buFont typeface="Arial" panose="020B0604020202020204" pitchFamily="34" charset="0"/>
              <a:buChar char="•"/>
            </a:pPr>
            <a:r>
              <a:rPr lang="en-US" sz="3200" dirty="0"/>
              <a:t>Classifiers</a:t>
            </a:r>
          </a:p>
          <a:p>
            <a:pPr marL="571500" indent="-571500" algn="just">
              <a:buFont typeface="Arial" panose="020B0604020202020204" pitchFamily="34" charset="0"/>
              <a:buChar char="•"/>
            </a:pPr>
            <a:r>
              <a:rPr lang="en-US" sz="3200" dirty="0"/>
              <a:t>Output</a:t>
            </a:r>
          </a:p>
        </p:txBody>
      </p:sp>
    </p:spTree>
    <p:extLst>
      <p:ext uri="{BB962C8B-B14F-4D97-AF65-F5344CB8AC3E}">
        <p14:creationId xmlns:p14="http://schemas.microsoft.com/office/powerpoint/2010/main" val="3432360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D969D-9190-4B2A-ADB1-4A9EDF47228D}"/>
              </a:ext>
            </a:extLst>
          </p:cNvPr>
          <p:cNvSpPr>
            <a:spLocks noGrp="1"/>
          </p:cNvSpPr>
          <p:nvPr>
            <p:ph type="title"/>
          </p:nvPr>
        </p:nvSpPr>
        <p:spPr>
          <a:xfrm>
            <a:off x="666476" y="247138"/>
            <a:ext cx="10515600" cy="1325563"/>
          </a:xfrm>
        </p:spPr>
        <p:txBody>
          <a:bodyPr/>
          <a:lstStyle/>
          <a:p>
            <a:r>
              <a:rPr lang="en-US" dirty="0"/>
              <a:t>Dataset</a:t>
            </a:r>
          </a:p>
        </p:txBody>
      </p:sp>
      <p:sp>
        <p:nvSpPr>
          <p:cNvPr id="3" name="Content Placeholder 2">
            <a:extLst>
              <a:ext uri="{FF2B5EF4-FFF2-40B4-BE49-F238E27FC236}">
                <a16:creationId xmlns:a16="http://schemas.microsoft.com/office/drawing/2014/main" id="{0CFD6D8B-A5F8-40C8-A2A6-7248B4E3B163}"/>
              </a:ext>
            </a:extLst>
          </p:cNvPr>
          <p:cNvSpPr>
            <a:spLocks noGrp="1"/>
          </p:cNvSpPr>
          <p:nvPr>
            <p:ph sz="half" idx="1"/>
          </p:nvPr>
        </p:nvSpPr>
        <p:spPr>
          <a:xfrm>
            <a:off x="838198" y="1825625"/>
            <a:ext cx="6380863" cy="4351338"/>
          </a:xfrm>
        </p:spPr>
        <p:txBody>
          <a:bodyPr>
            <a:normAutofit/>
          </a:bodyPr>
          <a:lstStyle/>
          <a:p>
            <a:r>
              <a:rPr lang="en-US" dirty="0"/>
              <a:t>Dataset consist 1600 images comprising of four different classes </a:t>
            </a:r>
          </a:p>
          <a:p>
            <a:r>
              <a:rPr lang="en-US" dirty="0"/>
              <a:t>Collected from different online sources </a:t>
            </a:r>
            <a:r>
              <a:rPr lang="en-US" dirty="0" err="1"/>
              <a:t>e.g</a:t>
            </a:r>
            <a:r>
              <a:rPr lang="en-US" dirty="0"/>
              <a:t> </a:t>
            </a:r>
            <a:r>
              <a:rPr lang="en-US" u="sng" dirty="0">
                <a:hlinkClick r:id="rId3">
                  <a:extLst>
                    <a:ext uri="{A12FA001-AC4F-418D-AE19-62706E023703}">
                      <ahyp:hlinkClr xmlns:ahyp="http://schemas.microsoft.com/office/drawing/2018/hyperlinkcolor" val="tx"/>
                    </a:ext>
                  </a:extLst>
                </a:hlinkClick>
              </a:rPr>
              <a:t>(roboflow.com</a:t>
            </a:r>
            <a:r>
              <a:rPr lang="en-US" u="sng" dirty="0"/>
              <a:t>)</a:t>
            </a:r>
          </a:p>
          <a:p>
            <a:r>
              <a:rPr lang="en-US" dirty="0"/>
              <a:t>Our dataset include labeled classes of viral, bacterial, allergic conjunctivitis and also contain healthy eye</a:t>
            </a:r>
          </a:p>
        </p:txBody>
      </p:sp>
      <p:pic>
        <p:nvPicPr>
          <p:cNvPr id="5" name="Content Placeholder 4">
            <a:extLst>
              <a:ext uri="{FF2B5EF4-FFF2-40B4-BE49-F238E27FC236}">
                <a16:creationId xmlns:a16="http://schemas.microsoft.com/office/drawing/2014/main" id="{6184DDC7-9DAE-4A12-9BE4-FDC4484B3268}"/>
              </a:ext>
            </a:extLst>
          </p:cNvPr>
          <p:cNvPicPr>
            <a:picLocks noGrp="1" noChangeAspect="1"/>
          </p:cNvPicPr>
          <p:nvPr>
            <p:ph sz="half" idx="2"/>
          </p:nvPr>
        </p:nvPicPr>
        <p:blipFill>
          <a:blip r:embed="rId4"/>
          <a:stretch>
            <a:fillRect/>
          </a:stretch>
        </p:blipFill>
        <p:spPr>
          <a:xfrm>
            <a:off x="7219062" y="1572701"/>
            <a:ext cx="4456091" cy="3930324"/>
          </a:xfrm>
          <a:prstGeom prst="rect">
            <a:avLst/>
          </a:prstGeom>
        </p:spPr>
      </p:pic>
    </p:spTree>
    <p:extLst>
      <p:ext uri="{BB962C8B-B14F-4D97-AF65-F5344CB8AC3E}">
        <p14:creationId xmlns:p14="http://schemas.microsoft.com/office/powerpoint/2010/main" val="682750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DD0ED-3FD3-D9C8-32DC-8FBF8E9EA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6920F8-2290-246B-DC4E-855D926302E0}"/>
              </a:ext>
            </a:extLst>
          </p:cNvPr>
          <p:cNvSpPr>
            <a:spLocks noGrp="1"/>
          </p:cNvSpPr>
          <p:nvPr>
            <p:ph type="title"/>
          </p:nvPr>
        </p:nvSpPr>
        <p:spPr>
          <a:xfrm>
            <a:off x="666476" y="247138"/>
            <a:ext cx="10515600" cy="1325563"/>
          </a:xfrm>
        </p:spPr>
        <p:txBody>
          <a:bodyPr/>
          <a:lstStyle/>
          <a:p>
            <a:r>
              <a:rPr lang="en-US" dirty="0"/>
              <a:t>Segmentation and Augmentation</a:t>
            </a:r>
          </a:p>
        </p:txBody>
      </p:sp>
      <p:sp>
        <p:nvSpPr>
          <p:cNvPr id="9" name="Content Placeholder 2">
            <a:extLst>
              <a:ext uri="{FF2B5EF4-FFF2-40B4-BE49-F238E27FC236}">
                <a16:creationId xmlns:a16="http://schemas.microsoft.com/office/drawing/2014/main" id="{D5815BFB-7BB3-896A-5ED8-B39AF5943DCF}"/>
              </a:ext>
            </a:extLst>
          </p:cNvPr>
          <p:cNvSpPr>
            <a:spLocks noGrp="1"/>
          </p:cNvSpPr>
          <p:nvPr>
            <p:ph idx="1"/>
          </p:nvPr>
        </p:nvSpPr>
        <p:spPr>
          <a:xfrm>
            <a:off x="838200" y="1770205"/>
            <a:ext cx="10515600" cy="4351338"/>
          </a:xfrm>
        </p:spPr>
        <p:txBody>
          <a:bodyPr/>
          <a:lstStyle/>
          <a:p>
            <a:r>
              <a:rPr lang="en-US" dirty="0"/>
              <a:t>Platform: Roboflow tools for precise segmentation</a:t>
            </a:r>
          </a:p>
          <a:p>
            <a:r>
              <a:rPr lang="en-US" dirty="0"/>
              <a:t>Purpose: Highlight critical regions, like redness and vessel structure, for accurate diagnosis</a:t>
            </a:r>
          </a:p>
          <a:p>
            <a:r>
              <a:rPr lang="en-US" dirty="0"/>
              <a:t>Outcome: High-quality, pre-processed images that improve model learning</a:t>
            </a:r>
          </a:p>
          <a:p>
            <a:r>
              <a:rPr lang="en-US" dirty="0"/>
              <a:t>Data augmentation helps to increase the size of dataset for training a model without collecting new data.</a:t>
            </a:r>
          </a:p>
          <a:p>
            <a:r>
              <a:rPr lang="en-US" dirty="0"/>
              <a:t>We used  zooming, rotation, and horizontal shift. By applying the augmentation more image dataset were generated.</a:t>
            </a:r>
          </a:p>
        </p:txBody>
      </p:sp>
    </p:spTree>
    <p:extLst>
      <p:ext uri="{BB962C8B-B14F-4D97-AF65-F5344CB8AC3E}">
        <p14:creationId xmlns:p14="http://schemas.microsoft.com/office/powerpoint/2010/main" val="2936118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07991-8502-6C8C-A7B9-59D4AE1A92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B7E9A8-9711-E754-ECDF-A2152C4405E0}"/>
              </a:ext>
            </a:extLst>
          </p:cNvPr>
          <p:cNvSpPr>
            <a:spLocks noGrp="1"/>
          </p:cNvSpPr>
          <p:nvPr>
            <p:ph type="title"/>
          </p:nvPr>
        </p:nvSpPr>
        <p:spPr>
          <a:xfrm>
            <a:off x="666476" y="247138"/>
            <a:ext cx="10515600" cy="1325563"/>
          </a:xfrm>
        </p:spPr>
        <p:txBody>
          <a:bodyPr/>
          <a:lstStyle/>
          <a:p>
            <a:r>
              <a:rPr lang="en-US" dirty="0"/>
              <a:t>Proposed Hybrid Model Architecture</a:t>
            </a:r>
          </a:p>
        </p:txBody>
      </p:sp>
      <p:sp>
        <p:nvSpPr>
          <p:cNvPr id="9" name="Content Placeholder 2">
            <a:extLst>
              <a:ext uri="{FF2B5EF4-FFF2-40B4-BE49-F238E27FC236}">
                <a16:creationId xmlns:a16="http://schemas.microsoft.com/office/drawing/2014/main" id="{BC0DC4F6-F3C6-A9EC-F083-89ECC0381E46}"/>
              </a:ext>
            </a:extLst>
          </p:cNvPr>
          <p:cNvSpPr>
            <a:spLocks noGrp="1"/>
          </p:cNvSpPr>
          <p:nvPr>
            <p:ph idx="1"/>
          </p:nvPr>
        </p:nvSpPr>
        <p:spPr>
          <a:xfrm>
            <a:off x="838200" y="1756349"/>
            <a:ext cx="10515600" cy="4104123"/>
          </a:xfrm>
        </p:spPr>
        <p:txBody>
          <a:bodyPr/>
          <a:lstStyle/>
          <a:p>
            <a:r>
              <a:rPr lang="en-US" dirty="0"/>
              <a:t>Models</a:t>
            </a:r>
            <a:r>
              <a:rPr lang="en-US" b="1" dirty="0"/>
              <a:t> </a:t>
            </a:r>
            <a:r>
              <a:rPr lang="en-US" dirty="0"/>
              <a:t>Used: VGG16 and ResNet50 Hybrid Model</a:t>
            </a:r>
          </a:p>
          <a:p>
            <a:r>
              <a:rPr lang="en-US" dirty="0"/>
              <a:t>Process: Dual feature extraction for detailed and high-level insights</a:t>
            </a:r>
          </a:p>
          <a:p>
            <a:r>
              <a:rPr lang="en-US" dirty="0"/>
              <a:t>Unified</a:t>
            </a:r>
            <a:r>
              <a:rPr lang="en-US" b="1" dirty="0"/>
              <a:t> </a:t>
            </a:r>
            <a:r>
              <a:rPr lang="en-US" dirty="0"/>
              <a:t>Feature</a:t>
            </a:r>
            <a:r>
              <a:rPr lang="en-US" b="1" dirty="0"/>
              <a:t> </a:t>
            </a:r>
            <a:r>
              <a:rPr lang="en-US" dirty="0"/>
              <a:t>Vector: Combines fine features with structural details for enhanced classification accuracy</a:t>
            </a:r>
          </a:p>
          <a:p>
            <a:r>
              <a:rPr lang="en-US" dirty="0"/>
              <a:t>Mechanism: Combines VGG16 and ResNet50 outputs into a single feature vector</a:t>
            </a:r>
          </a:p>
          <a:p>
            <a:r>
              <a:rPr lang="en-US" dirty="0"/>
              <a:t>Benefit: Minimizes weaknesses of individual models, optimizing accuracy by retaining both intricate and abstract patterns</a:t>
            </a:r>
          </a:p>
          <a:p>
            <a:endParaRPr lang="en-US" dirty="0"/>
          </a:p>
        </p:txBody>
      </p:sp>
    </p:spTree>
    <p:extLst>
      <p:ext uri="{BB962C8B-B14F-4D97-AF65-F5344CB8AC3E}">
        <p14:creationId xmlns:p14="http://schemas.microsoft.com/office/powerpoint/2010/main" val="3693853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82C87-FF03-CE44-B130-CD95BEEAF6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7A759-018B-E86A-5864-D6C668EFA420}"/>
              </a:ext>
            </a:extLst>
          </p:cNvPr>
          <p:cNvSpPr>
            <a:spLocks noGrp="1"/>
          </p:cNvSpPr>
          <p:nvPr>
            <p:ph type="title"/>
          </p:nvPr>
        </p:nvSpPr>
        <p:spPr>
          <a:xfrm>
            <a:off x="666476" y="247138"/>
            <a:ext cx="10515600" cy="1325563"/>
          </a:xfrm>
        </p:spPr>
        <p:txBody>
          <a:bodyPr/>
          <a:lstStyle/>
          <a:p>
            <a:r>
              <a:rPr lang="en-US" dirty="0"/>
              <a:t>Experimental Results</a:t>
            </a:r>
          </a:p>
        </p:txBody>
      </p:sp>
      <p:sp>
        <p:nvSpPr>
          <p:cNvPr id="9" name="Content Placeholder 2">
            <a:extLst>
              <a:ext uri="{FF2B5EF4-FFF2-40B4-BE49-F238E27FC236}">
                <a16:creationId xmlns:a16="http://schemas.microsoft.com/office/drawing/2014/main" id="{9AC8F5EA-3B8B-B4CE-A281-38A59EBDB6F0}"/>
              </a:ext>
            </a:extLst>
          </p:cNvPr>
          <p:cNvSpPr>
            <a:spLocks noGrp="1"/>
          </p:cNvSpPr>
          <p:nvPr>
            <p:ph idx="1"/>
          </p:nvPr>
        </p:nvSpPr>
        <p:spPr>
          <a:xfrm>
            <a:off x="838200" y="1353409"/>
            <a:ext cx="10515600" cy="917578"/>
          </a:xfrm>
        </p:spPr>
        <p:txBody>
          <a:bodyPr/>
          <a:lstStyle/>
          <a:p>
            <a:r>
              <a:rPr lang="en-US" dirty="0"/>
              <a:t>The experimental result shows training accuracy, 93.84%, and validation accuracy as 94%. </a:t>
            </a:r>
          </a:p>
          <a:p>
            <a:endParaRPr lang="en-US" dirty="0"/>
          </a:p>
        </p:txBody>
      </p:sp>
      <p:pic>
        <p:nvPicPr>
          <p:cNvPr id="6" name="Picture 5">
            <a:extLst>
              <a:ext uri="{FF2B5EF4-FFF2-40B4-BE49-F238E27FC236}">
                <a16:creationId xmlns:a16="http://schemas.microsoft.com/office/drawing/2014/main" id="{3639A221-EFE0-6E4C-AD54-D6C6F126D3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2309" y="2270987"/>
            <a:ext cx="5133108" cy="3894281"/>
          </a:xfrm>
          <a:prstGeom prst="rect">
            <a:avLst/>
          </a:prstGeom>
        </p:spPr>
      </p:pic>
      <p:pic>
        <p:nvPicPr>
          <p:cNvPr id="7" name="Picture 6">
            <a:extLst>
              <a:ext uri="{FF2B5EF4-FFF2-40B4-BE49-F238E27FC236}">
                <a16:creationId xmlns:a16="http://schemas.microsoft.com/office/drawing/2014/main" id="{5056EA60-D8AA-64ED-1FE1-A92783FBF8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2270988"/>
            <a:ext cx="5133108" cy="3894280"/>
          </a:xfrm>
          <a:prstGeom prst="rect">
            <a:avLst/>
          </a:prstGeom>
        </p:spPr>
      </p:pic>
    </p:spTree>
    <p:extLst>
      <p:ext uri="{BB962C8B-B14F-4D97-AF65-F5344CB8AC3E}">
        <p14:creationId xmlns:p14="http://schemas.microsoft.com/office/powerpoint/2010/main" val="35091117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C7894-481C-51AE-C178-CD3B4EF088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6D2B36-3277-1301-DB27-9A8F6A983684}"/>
              </a:ext>
            </a:extLst>
          </p:cNvPr>
          <p:cNvSpPr>
            <a:spLocks noGrp="1"/>
          </p:cNvSpPr>
          <p:nvPr>
            <p:ph type="title"/>
          </p:nvPr>
        </p:nvSpPr>
        <p:spPr>
          <a:xfrm>
            <a:off x="666476" y="247138"/>
            <a:ext cx="10515600" cy="1325563"/>
          </a:xfrm>
        </p:spPr>
        <p:txBody>
          <a:bodyPr/>
          <a:lstStyle/>
          <a:p>
            <a:r>
              <a:rPr lang="en-US" dirty="0"/>
              <a:t>Experimental Results</a:t>
            </a:r>
          </a:p>
        </p:txBody>
      </p:sp>
      <p:pic>
        <p:nvPicPr>
          <p:cNvPr id="8" name="Picture 7">
            <a:extLst>
              <a:ext uri="{FF2B5EF4-FFF2-40B4-BE49-F238E27FC236}">
                <a16:creationId xmlns:a16="http://schemas.microsoft.com/office/drawing/2014/main" id="{8CEE7277-598D-92AF-6E69-90AD53B1C4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7527" y="1572701"/>
            <a:ext cx="10184547" cy="4620281"/>
          </a:xfrm>
          <a:prstGeom prst="rect">
            <a:avLst/>
          </a:prstGeom>
        </p:spPr>
      </p:pic>
    </p:spTree>
    <p:extLst>
      <p:ext uri="{BB962C8B-B14F-4D97-AF65-F5344CB8AC3E}">
        <p14:creationId xmlns:p14="http://schemas.microsoft.com/office/powerpoint/2010/main" val="4084568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C07D-0631-C5E8-B641-0FC55D515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F61CCD-1805-EF1E-864C-F4618D3C0ACA}"/>
              </a:ext>
            </a:extLst>
          </p:cNvPr>
          <p:cNvSpPr>
            <a:spLocks noGrp="1"/>
          </p:cNvSpPr>
          <p:nvPr>
            <p:ph type="title"/>
          </p:nvPr>
        </p:nvSpPr>
        <p:spPr>
          <a:xfrm>
            <a:off x="666476" y="247138"/>
            <a:ext cx="10515600" cy="1325563"/>
          </a:xfrm>
        </p:spPr>
        <p:txBody>
          <a:bodyPr/>
          <a:lstStyle/>
          <a:p>
            <a:r>
              <a:rPr lang="en-US" dirty="0"/>
              <a:t>Experimental Results</a:t>
            </a:r>
          </a:p>
        </p:txBody>
      </p:sp>
      <p:sp>
        <p:nvSpPr>
          <p:cNvPr id="9" name="Content Placeholder 2">
            <a:extLst>
              <a:ext uri="{FF2B5EF4-FFF2-40B4-BE49-F238E27FC236}">
                <a16:creationId xmlns:a16="http://schemas.microsoft.com/office/drawing/2014/main" id="{A7D4B945-0AEC-3D5E-0112-14193638CCDF}"/>
              </a:ext>
            </a:extLst>
          </p:cNvPr>
          <p:cNvSpPr>
            <a:spLocks noGrp="1"/>
          </p:cNvSpPr>
          <p:nvPr>
            <p:ph idx="1"/>
          </p:nvPr>
        </p:nvSpPr>
        <p:spPr>
          <a:xfrm>
            <a:off x="838200" y="1328009"/>
            <a:ext cx="10515600" cy="917578"/>
          </a:xfrm>
        </p:spPr>
        <p:txBody>
          <a:bodyPr>
            <a:normAutofit fontScale="85000" lnSpcReduction="20000"/>
          </a:bodyPr>
          <a:lstStyle/>
          <a:p>
            <a:r>
              <a:rPr lang="en-US" dirty="0"/>
              <a:t>A clear graphical depiction of the trade-off between true positive rate and false positive rate for multiclass classification tasks is receiver operating characteristics (RoC) analysis.</a:t>
            </a:r>
          </a:p>
        </p:txBody>
      </p:sp>
      <p:pic>
        <p:nvPicPr>
          <p:cNvPr id="8" name="Picture 7">
            <a:extLst>
              <a:ext uri="{FF2B5EF4-FFF2-40B4-BE49-F238E27FC236}">
                <a16:creationId xmlns:a16="http://schemas.microsoft.com/office/drawing/2014/main" id="{D24BA99A-1C4A-13EE-76C5-86928426A5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2817" y="2245587"/>
            <a:ext cx="7902918" cy="4014763"/>
          </a:xfrm>
          <a:prstGeom prst="rect">
            <a:avLst/>
          </a:prstGeom>
        </p:spPr>
      </p:pic>
    </p:spTree>
    <p:extLst>
      <p:ext uri="{BB962C8B-B14F-4D97-AF65-F5344CB8AC3E}">
        <p14:creationId xmlns:p14="http://schemas.microsoft.com/office/powerpoint/2010/main" val="2748737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FB5B6-BF7E-EFF7-2243-7F500A6BA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30A6DF-A430-5EDC-E27C-2CD53ECF5F8E}"/>
              </a:ext>
            </a:extLst>
          </p:cNvPr>
          <p:cNvSpPr>
            <a:spLocks noGrp="1"/>
          </p:cNvSpPr>
          <p:nvPr>
            <p:ph type="title"/>
          </p:nvPr>
        </p:nvSpPr>
        <p:spPr>
          <a:xfrm>
            <a:off x="666476" y="247138"/>
            <a:ext cx="10515600" cy="1325563"/>
          </a:xfrm>
        </p:spPr>
        <p:txBody>
          <a:bodyPr/>
          <a:lstStyle/>
          <a:p>
            <a:r>
              <a:rPr lang="en-US" dirty="0"/>
              <a:t>Comparison</a:t>
            </a:r>
          </a:p>
        </p:txBody>
      </p:sp>
      <p:graphicFrame>
        <p:nvGraphicFramePr>
          <p:cNvPr id="5" name="Table 4">
            <a:extLst>
              <a:ext uri="{FF2B5EF4-FFF2-40B4-BE49-F238E27FC236}">
                <a16:creationId xmlns:a16="http://schemas.microsoft.com/office/drawing/2014/main" id="{E8CD7F57-B5AD-1228-BB25-5968FEE7D47F}"/>
              </a:ext>
            </a:extLst>
          </p:cNvPr>
          <p:cNvGraphicFramePr>
            <a:graphicFrameLocks noGrp="1"/>
          </p:cNvGraphicFramePr>
          <p:nvPr>
            <p:extLst>
              <p:ext uri="{D42A27DB-BD31-4B8C-83A1-F6EECF244321}">
                <p14:modId xmlns:p14="http://schemas.microsoft.com/office/powerpoint/2010/main" val="2144949200"/>
              </p:ext>
            </p:extLst>
          </p:nvPr>
        </p:nvGraphicFramePr>
        <p:xfrm>
          <a:off x="803564" y="1343111"/>
          <a:ext cx="10224656" cy="5108487"/>
        </p:xfrm>
        <a:graphic>
          <a:graphicData uri="http://schemas.openxmlformats.org/drawingml/2006/table">
            <a:tbl>
              <a:tblPr firstRow="1" bandRow="1">
                <a:tableStyleId>{5C22544A-7EE6-4342-B048-85BDC9FD1C3A}</a:tableStyleId>
              </a:tblPr>
              <a:tblGrid>
                <a:gridCol w="2556164">
                  <a:extLst>
                    <a:ext uri="{9D8B030D-6E8A-4147-A177-3AD203B41FA5}">
                      <a16:colId xmlns:a16="http://schemas.microsoft.com/office/drawing/2014/main" val="2587297077"/>
                    </a:ext>
                  </a:extLst>
                </a:gridCol>
                <a:gridCol w="2556164">
                  <a:extLst>
                    <a:ext uri="{9D8B030D-6E8A-4147-A177-3AD203B41FA5}">
                      <a16:colId xmlns:a16="http://schemas.microsoft.com/office/drawing/2014/main" val="1172469158"/>
                    </a:ext>
                  </a:extLst>
                </a:gridCol>
                <a:gridCol w="2556164">
                  <a:extLst>
                    <a:ext uri="{9D8B030D-6E8A-4147-A177-3AD203B41FA5}">
                      <a16:colId xmlns:a16="http://schemas.microsoft.com/office/drawing/2014/main" val="3105825181"/>
                    </a:ext>
                  </a:extLst>
                </a:gridCol>
                <a:gridCol w="2556164">
                  <a:extLst>
                    <a:ext uri="{9D8B030D-6E8A-4147-A177-3AD203B41FA5}">
                      <a16:colId xmlns:a16="http://schemas.microsoft.com/office/drawing/2014/main" val="2253089951"/>
                    </a:ext>
                  </a:extLst>
                </a:gridCol>
              </a:tblGrid>
              <a:tr h="302822">
                <a:tc>
                  <a:txBody>
                    <a:bodyPr/>
                    <a:lstStyle/>
                    <a:p>
                      <a:pPr algn="ctr">
                        <a:lnSpc>
                          <a:spcPct val="150000"/>
                        </a:lnSpc>
                        <a:spcAft>
                          <a:spcPts val="800"/>
                        </a:spcAft>
                      </a:pPr>
                      <a:r>
                        <a:rPr lang="en-US" sz="1800" b="1"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Article Reference</a:t>
                      </a:r>
                      <a:endParaRPr lang="en-GB" sz="1600" kern="1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Aft>
                          <a:spcPts val="800"/>
                        </a:spcAft>
                      </a:pPr>
                      <a:r>
                        <a:rPr lang="en-US" sz="1800" b="1" kern="100">
                          <a:solidFill>
                            <a:schemeClr val="bg1"/>
                          </a:solidFill>
                          <a:effectLst/>
                          <a:latin typeface="Times New Roman" panose="02020603050405020304" pitchFamily="18" charset="0"/>
                          <a:ea typeface="Calibri" panose="020F0502020204030204" pitchFamily="34" charset="0"/>
                          <a:cs typeface="Arial" panose="020B0604020202020204" pitchFamily="34" charset="0"/>
                        </a:rPr>
                        <a:t>Algorithm</a:t>
                      </a:r>
                      <a:endParaRPr lang="en-GB" sz="1600" kern="10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Aft>
                          <a:spcPts val="800"/>
                        </a:spcAft>
                      </a:pPr>
                      <a:r>
                        <a:rPr lang="en-US" sz="1800" b="1" kern="100">
                          <a:solidFill>
                            <a:schemeClr val="bg1"/>
                          </a:solidFill>
                          <a:effectLst/>
                          <a:latin typeface="Times New Roman" panose="02020603050405020304" pitchFamily="18" charset="0"/>
                          <a:ea typeface="Calibri" panose="020F0502020204030204" pitchFamily="34" charset="0"/>
                          <a:cs typeface="Arial" panose="020B0604020202020204" pitchFamily="34" charset="0"/>
                        </a:rPr>
                        <a:t>Dataset</a:t>
                      </a:r>
                      <a:endParaRPr lang="en-GB" sz="1600" kern="10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Aft>
                          <a:spcPts val="800"/>
                        </a:spcAft>
                      </a:pPr>
                      <a:r>
                        <a:rPr lang="en-US" sz="1800" b="1"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Outcome</a:t>
                      </a:r>
                      <a:endParaRPr lang="en-GB" sz="1600" kern="1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534981281"/>
                  </a:ext>
                </a:extLst>
              </a:tr>
              <a:tr h="1254137">
                <a:tc>
                  <a:txBody>
                    <a:bodyPr/>
                    <a:lstStyle/>
                    <a:p>
                      <a:pPr algn="ctr">
                        <a:lnSpc>
                          <a:spcPct val="150000"/>
                        </a:lnSpc>
                        <a:spcAft>
                          <a:spcPts val="800"/>
                        </a:spcAft>
                      </a:pPr>
                      <a:r>
                        <a:rPr lang="en-US" sz="1400" kern="1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Ghani et al (2021)</a:t>
                      </a:r>
                      <a:endParaRPr lang="en-GB" sz="1200" kern="1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Aft>
                          <a:spcPts val="800"/>
                        </a:spcAft>
                      </a:pPr>
                      <a:r>
                        <a:rPr lang="en-US" sz="1400" kern="100">
                          <a:solidFill>
                            <a:schemeClr val="tx1"/>
                          </a:solidFill>
                          <a:effectLst/>
                          <a:latin typeface="Times New Roman" panose="02020603050405020304" pitchFamily="18" charset="0"/>
                          <a:ea typeface="Calibri" panose="020F0502020204030204" pitchFamily="34" charset="0"/>
                          <a:cs typeface="Arial" panose="020B0604020202020204" pitchFamily="34" charset="0"/>
                        </a:rPr>
                        <a:t>Inception-V3 and VGG-16 architectures</a:t>
                      </a:r>
                      <a:endParaRPr lang="en-GB"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Aft>
                          <a:spcPts val="800"/>
                        </a:spcAft>
                      </a:pPr>
                      <a:r>
                        <a:rPr lang="en-US" sz="1400" kern="100">
                          <a:solidFill>
                            <a:schemeClr val="tx1"/>
                          </a:solidFill>
                          <a:effectLst/>
                          <a:latin typeface="Times New Roman" panose="02020603050405020304" pitchFamily="18" charset="0"/>
                          <a:ea typeface="Calibri" panose="020F0502020204030204" pitchFamily="34" charset="0"/>
                          <a:cs typeface="Arial" panose="020B0604020202020204" pitchFamily="34" charset="0"/>
                        </a:rPr>
                        <a:t>Dataset with 1563 pictures of different eye diseases divided into 25 groups</a:t>
                      </a:r>
                      <a:endParaRPr lang="en-GB"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Aft>
                          <a:spcPts val="800"/>
                        </a:spcAft>
                      </a:pPr>
                      <a:r>
                        <a:rPr lang="en-US" sz="1400" kern="1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90.01%</a:t>
                      </a:r>
                      <a:endParaRPr lang="en-GB" sz="1200" kern="1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81481798"/>
                  </a:ext>
                </a:extLst>
              </a:tr>
              <a:tr h="641906">
                <a:tc>
                  <a:txBody>
                    <a:bodyPr/>
                    <a:lstStyle/>
                    <a:p>
                      <a:pPr algn="ctr">
                        <a:lnSpc>
                          <a:spcPct val="150000"/>
                        </a:lnSpc>
                        <a:spcAft>
                          <a:spcPts val="800"/>
                        </a:spcAft>
                      </a:pPr>
                      <a:r>
                        <a:rPr lang="en-US" sz="1400" kern="100">
                          <a:solidFill>
                            <a:schemeClr val="tx1"/>
                          </a:solidFill>
                          <a:effectLst/>
                          <a:latin typeface="Times New Roman" panose="02020603050405020304" pitchFamily="18" charset="0"/>
                          <a:ea typeface="Calibri" panose="020F0502020204030204" pitchFamily="34" charset="0"/>
                          <a:cs typeface="Arial" panose="020B0604020202020204" pitchFamily="34" charset="0"/>
                        </a:rPr>
                        <a:t>Nigudgi et al. (2023)</a:t>
                      </a:r>
                      <a:endParaRPr lang="en-GB"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Aft>
                          <a:spcPts val="800"/>
                        </a:spcAft>
                      </a:pPr>
                      <a:r>
                        <a:rPr lang="en-US" sz="1400" kern="100">
                          <a:solidFill>
                            <a:schemeClr val="tx1"/>
                          </a:solidFill>
                          <a:effectLst/>
                          <a:latin typeface="Times New Roman" panose="02020603050405020304" pitchFamily="18" charset="0"/>
                          <a:ea typeface="Calibri" panose="020F0502020204030204" pitchFamily="34" charset="0"/>
                          <a:cs typeface="Arial" panose="020B0604020202020204" pitchFamily="34" charset="0"/>
                        </a:rPr>
                        <a:t>CNN model</a:t>
                      </a:r>
                      <a:endParaRPr lang="en-GB"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Aft>
                          <a:spcPts val="800"/>
                        </a:spcAft>
                      </a:pPr>
                      <a:r>
                        <a:rPr lang="en-US" sz="1400" kern="100">
                          <a:solidFill>
                            <a:schemeClr val="tx1"/>
                          </a:solidFill>
                          <a:effectLst/>
                          <a:latin typeface="Times New Roman" panose="02020603050405020304" pitchFamily="18" charset="0"/>
                          <a:ea typeface="Calibri" panose="020F0502020204030204" pitchFamily="34" charset="0"/>
                          <a:cs typeface="Arial" panose="020B0604020202020204" pitchFamily="34" charset="0"/>
                        </a:rPr>
                        <a:t>Labeled conjunctivitis effected eye photos</a:t>
                      </a:r>
                      <a:endParaRPr lang="en-GB"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Aft>
                          <a:spcPts val="800"/>
                        </a:spcAft>
                      </a:pPr>
                      <a:r>
                        <a:rPr lang="en-US" sz="1400" kern="100">
                          <a:solidFill>
                            <a:schemeClr val="tx1"/>
                          </a:solidFill>
                          <a:effectLst/>
                          <a:latin typeface="Times New Roman" panose="02020603050405020304" pitchFamily="18" charset="0"/>
                          <a:ea typeface="Calibri" panose="020F0502020204030204" pitchFamily="34" charset="0"/>
                          <a:cs typeface="Arial" panose="020B0604020202020204" pitchFamily="34" charset="0"/>
                        </a:rPr>
                        <a:t>87%</a:t>
                      </a:r>
                      <a:endParaRPr lang="en-GB"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732546087"/>
                  </a:ext>
                </a:extLst>
              </a:tr>
              <a:tr h="931989">
                <a:tc>
                  <a:txBody>
                    <a:bodyPr/>
                    <a:lstStyle/>
                    <a:p>
                      <a:pPr algn="ctr">
                        <a:lnSpc>
                          <a:spcPct val="150000"/>
                        </a:lnSpc>
                        <a:spcAft>
                          <a:spcPts val="800"/>
                        </a:spcAft>
                      </a:pPr>
                      <a:r>
                        <a:rPr lang="en-US" sz="1400" kern="1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Soysa et al. (2020)</a:t>
                      </a:r>
                      <a:endParaRPr lang="en-GB" sz="1200" kern="1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Aft>
                          <a:spcPts val="800"/>
                        </a:spcAft>
                      </a:pPr>
                      <a:r>
                        <a:rPr lang="en-US" sz="1400" kern="100">
                          <a:solidFill>
                            <a:schemeClr val="tx1"/>
                          </a:solidFill>
                          <a:effectLst/>
                          <a:latin typeface="Times New Roman" panose="02020603050405020304" pitchFamily="18" charset="0"/>
                          <a:ea typeface="Calibri" panose="020F0502020204030204" pitchFamily="34" charset="0"/>
                          <a:cs typeface="Arial" panose="020B0604020202020204" pitchFamily="34" charset="0"/>
                        </a:rPr>
                        <a:t>Convolutional (CNN) and deep neural networks (DNN)</a:t>
                      </a:r>
                      <a:endParaRPr lang="en-GB"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Aft>
                          <a:spcPts val="800"/>
                        </a:spcAft>
                      </a:pPr>
                      <a:r>
                        <a:rPr lang="en-US" sz="1400" kern="100">
                          <a:solidFill>
                            <a:schemeClr val="tx1"/>
                          </a:solidFill>
                          <a:effectLst/>
                          <a:latin typeface="Times New Roman" panose="02020603050405020304" pitchFamily="18" charset="0"/>
                          <a:ea typeface="Calibri" panose="020F0502020204030204" pitchFamily="34" charset="0"/>
                          <a:cs typeface="Arial" panose="020B0604020202020204" pitchFamily="34" charset="0"/>
                        </a:rPr>
                        <a:t>Images including conjunctivitis, cataracts, and normal eye photos</a:t>
                      </a:r>
                      <a:endParaRPr lang="en-GB"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Aft>
                          <a:spcPts val="800"/>
                        </a:spcAft>
                      </a:pPr>
                      <a:r>
                        <a:rPr lang="en-US" sz="1400" kern="100">
                          <a:solidFill>
                            <a:schemeClr val="tx1"/>
                          </a:solidFill>
                          <a:effectLst/>
                          <a:latin typeface="Times New Roman" panose="02020603050405020304" pitchFamily="18" charset="0"/>
                          <a:ea typeface="Calibri" panose="020F0502020204030204" pitchFamily="34" charset="0"/>
                          <a:cs typeface="Arial" panose="020B0604020202020204" pitchFamily="34" charset="0"/>
                        </a:rPr>
                        <a:t>83.33%</a:t>
                      </a:r>
                      <a:endParaRPr lang="en-GB"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54958556"/>
                  </a:ext>
                </a:extLst>
              </a:tr>
              <a:tr h="931989">
                <a:tc>
                  <a:txBody>
                    <a:bodyPr/>
                    <a:lstStyle/>
                    <a:p>
                      <a:pPr algn="ctr">
                        <a:lnSpc>
                          <a:spcPct val="150000"/>
                        </a:lnSpc>
                        <a:spcAft>
                          <a:spcPts val="800"/>
                        </a:spcAft>
                      </a:pPr>
                      <a:r>
                        <a:rPr lang="en-US" sz="1400" kern="100">
                          <a:solidFill>
                            <a:schemeClr val="tx1"/>
                          </a:solidFill>
                          <a:effectLst/>
                          <a:latin typeface="Times New Roman" panose="02020603050405020304" pitchFamily="18" charset="0"/>
                          <a:ea typeface="Calibri" panose="020F0502020204030204" pitchFamily="34" charset="0"/>
                          <a:cs typeface="Arial" panose="020B0604020202020204" pitchFamily="34" charset="0"/>
                        </a:rPr>
                        <a:t>Mukherjee et al. (2021)</a:t>
                      </a:r>
                      <a:endParaRPr lang="en-GB"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Aft>
                          <a:spcPts val="800"/>
                        </a:spcAft>
                      </a:pPr>
                      <a:r>
                        <a:rPr lang="en-US" sz="1400" kern="100">
                          <a:solidFill>
                            <a:schemeClr val="tx1"/>
                          </a:solidFill>
                          <a:effectLst/>
                          <a:latin typeface="Times New Roman" panose="02020603050405020304" pitchFamily="18" charset="0"/>
                          <a:ea typeface="Calibri" panose="020F0502020204030204" pitchFamily="34" charset="0"/>
                          <a:cs typeface="Arial" panose="020B0604020202020204" pitchFamily="34" charset="0"/>
                        </a:rPr>
                        <a:t>Convolutional neural networks (CNNs), EfficientNet</a:t>
                      </a:r>
                      <a:endParaRPr lang="en-GB"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Aft>
                          <a:spcPts val="800"/>
                        </a:spcAft>
                      </a:pPr>
                      <a:r>
                        <a:rPr lang="en-US" sz="1400" kern="100">
                          <a:solidFill>
                            <a:schemeClr val="tx1"/>
                          </a:solidFill>
                          <a:effectLst/>
                          <a:latin typeface="Times New Roman" panose="02020603050405020304" pitchFamily="18" charset="0"/>
                          <a:ea typeface="Calibri" panose="020F0502020204030204" pitchFamily="34" charset="0"/>
                          <a:cs typeface="Arial" panose="020B0604020202020204" pitchFamily="34" charset="0"/>
                        </a:rPr>
                        <a:t>Annotated photos of healthy and diseased eyes</a:t>
                      </a:r>
                      <a:endParaRPr lang="en-GB"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Aft>
                          <a:spcPts val="800"/>
                        </a:spcAft>
                      </a:pPr>
                      <a:r>
                        <a:rPr lang="en-US" sz="1400" kern="100">
                          <a:solidFill>
                            <a:schemeClr val="tx1"/>
                          </a:solidFill>
                          <a:effectLst/>
                          <a:latin typeface="Times New Roman" panose="02020603050405020304" pitchFamily="18" charset="0"/>
                          <a:ea typeface="Calibri" panose="020F0502020204030204" pitchFamily="34" charset="0"/>
                          <a:cs typeface="Arial" panose="020B0604020202020204" pitchFamily="34" charset="0"/>
                        </a:rPr>
                        <a:t>84%</a:t>
                      </a:r>
                      <a:endParaRPr lang="en-GB"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79304801"/>
                  </a:ext>
                </a:extLst>
              </a:tr>
              <a:tr h="980991">
                <a:tc>
                  <a:txBody>
                    <a:bodyPr/>
                    <a:lstStyle/>
                    <a:p>
                      <a:pPr algn="ctr">
                        <a:lnSpc>
                          <a:spcPct val="150000"/>
                        </a:lnSpc>
                        <a:spcAft>
                          <a:spcPts val="800"/>
                        </a:spcAft>
                      </a:pPr>
                      <a:r>
                        <a:rPr lang="en-US" sz="1400" kern="100">
                          <a:solidFill>
                            <a:schemeClr val="tx1"/>
                          </a:solidFill>
                          <a:effectLst/>
                          <a:latin typeface="Times New Roman" panose="02020603050405020304" pitchFamily="18" charset="0"/>
                          <a:ea typeface="Calibri" panose="020F0502020204030204" pitchFamily="34" charset="0"/>
                          <a:cs typeface="Arial" panose="020B0604020202020204" pitchFamily="34" charset="0"/>
                        </a:rPr>
                        <a:t>Purposed Model</a:t>
                      </a:r>
                      <a:endParaRPr lang="en-GB"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Aft>
                          <a:spcPts val="800"/>
                        </a:spcAft>
                      </a:pPr>
                      <a:r>
                        <a:rPr lang="en-US" sz="1400" kern="100">
                          <a:solidFill>
                            <a:schemeClr val="tx1"/>
                          </a:solidFill>
                          <a:effectLst/>
                          <a:latin typeface="Times New Roman" panose="02020603050405020304" pitchFamily="18" charset="0"/>
                          <a:ea typeface="Calibri" panose="020F0502020204030204" pitchFamily="34" charset="0"/>
                          <a:cs typeface="Arial" panose="020B0604020202020204" pitchFamily="34" charset="0"/>
                        </a:rPr>
                        <a:t>VGG-16 and ResNet-50 hybrid model</a:t>
                      </a:r>
                      <a:endParaRPr lang="en-GB" sz="12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Aft>
                          <a:spcPts val="800"/>
                        </a:spcAft>
                      </a:pPr>
                      <a:r>
                        <a:rPr lang="en-US" sz="1400" kern="1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Dataset contain viral, bacterial, allergic and healthy eyes label image.</a:t>
                      </a:r>
                      <a:endParaRPr lang="en-GB" sz="1200" kern="1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50000"/>
                        </a:lnSpc>
                        <a:spcAft>
                          <a:spcPts val="800"/>
                        </a:spcAft>
                      </a:pPr>
                      <a:r>
                        <a:rPr lang="en-US" sz="1400" kern="1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93.44%</a:t>
                      </a:r>
                      <a:endParaRPr lang="en-GB" sz="1200" kern="1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604157481"/>
                  </a:ext>
                </a:extLst>
              </a:tr>
            </a:tbl>
          </a:graphicData>
        </a:graphic>
      </p:graphicFrame>
    </p:spTree>
    <p:extLst>
      <p:ext uri="{BB962C8B-B14F-4D97-AF65-F5344CB8AC3E}">
        <p14:creationId xmlns:p14="http://schemas.microsoft.com/office/powerpoint/2010/main" val="2172702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6492F-5707-7233-3472-1F84FA36C7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1EB6AA-DF70-9871-F04F-0C3914A800DC}"/>
              </a:ext>
            </a:extLst>
          </p:cNvPr>
          <p:cNvSpPr>
            <a:spLocks noGrp="1"/>
          </p:cNvSpPr>
          <p:nvPr>
            <p:ph type="title"/>
          </p:nvPr>
        </p:nvSpPr>
        <p:spPr>
          <a:xfrm>
            <a:off x="666476" y="247138"/>
            <a:ext cx="10515600" cy="1325563"/>
          </a:xfrm>
        </p:spPr>
        <p:txBody>
          <a:bodyPr/>
          <a:lstStyle/>
          <a:p>
            <a:r>
              <a:rPr lang="en-US" dirty="0"/>
              <a:t>Conclusion</a:t>
            </a:r>
          </a:p>
        </p:txBody>
      </p:sp>
      <p:sp>
        <p:nvSpPr>
          <p:cNvPr id="3" name="Content Placeholder 2">
            <a:extLst>
              <a:ext uri="{FF2B5EF4-FFF2-40B4-BE49-F238E27FC236}">
                <a16:creationId xmlns:a16="http://schemas.microsoft.com/office/drawing/2014/main" id="{AE74C244-79C2-CFF6-21CB-C7E329582F8D}"/>
              </a:ext>
            </a:extLst>
          </p:cNvPr>
          <p:cNvSpPr>
            <a:spLocks noGrp="1"/>
          </p:cNvSpPr>
          <p:nvPr>
            <p:ph idx="1"/>
          </p:nvPr>
        </p:nvSpPr>
        <p:spPr>
          <a:xfrm>
            <a:off x="838200" y="1825625"/>
            <a:ext cx="10515600" cy="4351338"/>
          </a:xfrm>
        </p:spPr>
        <p:txBody>
          <a:bodyPr/>
          <a:lstStyle/>
          <a:p>
            <a:r>
              <a:rPr lang="en-US" dirty="0"/>
              <a:t>Summary: AI-based detection models offer accessible, rapid diagnostics</a:t>
            </a:r>
          </a:p>
          <a:p>
            <a:r>
              <a:rPr lang="en-US" dirty="0"/>
              <a:t>Impact: Potential to bring quality eye care to rural areas</a:t>
            </a:r>
          </a:p>
          <a:p>
            <a:r>
              <a:rPr lang="en-US" dirty="0"/>
              <a:t>Future: Develop more hybrid models to improve accuracy and integrate into mobile apps for wider accessibility</a:t>
            </a:r>
          </a:p>
        </p:txBody>
      </p:sp>
    </p:spTree>
    <p:extLst>
      <p:ext uri="{BB962C8B-B14F-4D97-AF65-F5344CB8AC3E}">
        <p14:creationId xmlns:p14="http://schemas.microsoft.com/office/powerpoint/2010/main" val="3051980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D75D0-205C-9418-61FD-701A98B9E5F2}"/>
              </a:ext>
            </a:extLst>
          </p:cNvPr>
          <p:cNvSpPr>
            <a:spLocks noGrp="1"/>
          </p:cNvSpPr>
          <p:nvPr>
            <p:ph type="title"/>
          </p:nvPr>
        </p:nvSpPr>
        <p:spPr/>
        <p:txBody>
          <a:bodyPr/>
          <a:lstStyle/>
          <a:p>
            <a:r>
              <a:rPr lang="en-US" dirty="0"/>
              <a:t>Report</a:t>
            </a:r>
            <a:endParaRPr lang="en-GB" dirty="0"/>
          </a:p>
        </p:txBody>
      </p:sp>
      <p:sp>
        <p:nvSpPr>
          <p:cNvPr id="3" name="Content Placeholder 2">
            <a:extLst>
              <a:ext uri="{FF2B5EF4-FFF2-40B4-BE49-F238E27FC236}">
                <a16:creationId xmlns:a16="http://schemas.microsoft.com/office/drawing/2014/main" id="{D501215B-28A7-0EB0-A040-38B01A12D4FE}"/>
              </a:ext>
            </a:extLst>
          </p:cNvPr>
          <p:cNvSpPr>
            <a:spLocks noGrp="1"/>
          </p:cNvSpPr>
          <p:nvPr>
            <p:ph idx="1"/>
          </p:nvPr>
        </p:nvSpPr>
        <p:spPr/>
        <p:txBody>
          <a:bodyPr/>
          <a:lstStyle/>
          <a:p>
            <a:r>
              <a:rPr lang="en-US" dirty="0">
                <a:hlinkClick r:id="rId3" action="ppaction://hlinkfile"/>
              </a:rPr>
              <a:t>..\</a:t>
            </a:r>
            <a:r>
              <a:rPr lang="en-US" dirty="0" err="1">
                <a:hlinkClick r:id="rId3" action="ppaction://hlinkfile"/>
              </a:rPr>
              <a:t>Research_Report_final</a:t>
            </a:r>
            <a:r>
              <a:rPr lang="en-US" dirty="0">
                <a:hlinkClick r:id="rId3" action="ppaction://hlinkfile"/>
              </a:rPr>
              <a:t>[1] fyp2.docx</a:t>
            </a:r>
            <a:endParaRPr lang="en-GB" dirty="0"/>
          </a:p>
        </p:txBody>
      </p:sp>
    </p:spTree>
    <p:extLst>
      <p:ext uri="{BB962C8B-B14F-4D97-AF65-F5344CB8AC3E}">
        <p14:creationId xmlns:p14="http://schemas.microsoft.com/office/powerpoint/2010/main" val="23683740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E4F4321D-22CE-FD5E-FC2F-DD4B344DF40C}"/>
              </a:ext>
            </a:extLst>
          </p:cNvPr>
          <p:cNvSpPr>
            <a:spLocks noGrp="1"/>
          </p:cNvSpPr>
          <p:nvPr>
            <p:ph type="ctrTitle"/>
          </p:nvPr>
        </p:nvSpPr>
        <p:spPr>
          <a:xfrm>
            <a:off x="3538329" y="2213113"/>
            <a:ext cx="5927085" cy="2570922"/>
          </a:xfrm>
        </p:spPr>
        <p:txBody>
          <a:bodyPr anchor="b">
            <a:normAutofit/>
          </a:bodyPr>
          <a:lstStyle/>
          <a:p>
            <a:r>
              <a:rPr lang="en-IE" sz="11400" b="1" dirty="0"/>
              <a:t>THANKS</a:t>
            </a:r>
            <a:br>
              <a:rPr lang="en-US" b="1" dirty="0"/>
            </a:br>
            <a:endParaRPr lang="en-US" sz="5200" dirty="0">
              <a:solidFill>
                <a:schemeClr val="tx2"/>
              </a:solidFill>
            </a:endParaRPr>
          </a:p>
        </p:txBody>
      </p:sp>
      <p:grpSp>
        <p:nvGrpSpPr>
          <p:cNvPr id="12" name="Group 11">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19" name="Freeform: Shape 18">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9178246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3642</TotalTime>
  <Words>2286</Words>
  <Application>Microsoft Office PowerPoint</Application>
  <PresentationFormat>Widescreen</PresentationFormat>
  <Paragraphs>159</Paragraphs>
  <Slides>21</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Diagnosis of Conjunctivitis using Artificial Intelligence </vt:lpstr>
      <vt:lpstr>Project Team</vt:lpstr>
      <vt:lpstr>Introduction </vt:lpstr>
      <vt:lpstr>Symptoms of Conjunctivitis</vt:lpstr>
      <vt:lpstr>Types of pink eye</vt:lpstr>
      <vt:lpstr>Affected Population</vt:lpstr>
      <vt:lpstr>Literature Review</vt:lpstr>
      <vt:lpstr>Problem Statement</vt:lpstr>
      <vt:lpstr>Objective</vt:lpstr>
      <vt:lpstr>Methodology</vt:lpstr>
      <vt:lpstr>Implementation</vt:lpstr>
      <vt:lpstr>Dataset</vt:lpstr>
      <vt:lpstr>Segmentation and Augmentation</vt:lpstr>
      <vt:lpstr>Proposed Hybrid Model Architecture</vt:lpstr>
      <vt:lpstr>Experimental Results</vt:lpstr>
      <vt:lpstr>Experimental Results</vt:lpstr>
      <vt:lpstr>Experimental Results</vt:lpstr>
      <vt:lpstr>Comparison</vt:lpstr>
      <vt:lpstr>Conclusion</vt:lpstr>
      <vt:lpstr>Report</vt:lpstr>
      <vt:lpstr>THANKS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Sheheryar Malik</dc:creator>
  <cp:lastModifiedBy>Muhammad Ans</cp:lastModifiedBy>
  <cp:revision>620</cp:revision>
  <cp:lastPrinted>2017-10-31T06:19:01Z</cp:lastPrinted>
  <dcterms:created xsi:type="dcterms:W3CDTF">2017-10-28T17:48:40Z</dcterms:created>
  <dcterms:modified xsi:type="dcterms:W3CDTF">2024-11-29T04:34:35Z</dcterms:modified>
</cp:coreProperties>
</file>